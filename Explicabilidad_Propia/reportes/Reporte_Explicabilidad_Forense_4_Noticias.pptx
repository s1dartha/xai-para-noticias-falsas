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4"/>
    <p:sldMasterId id="2147483681" r:id="rId5"/>
  </p:sldMasterIdLst>
  <p:notesMasterIdLst>
    <p:notesMasterId r:id="rId6"/>
  </p:notesMasterIdLst>
  <p:sldIdLst>
    <p:sldId id="256" r:id="rId32"/>
    <p:sldId id="257" r:id="rId33"/>
    <p:sldId id="258" r:id="rId34"/>
    <p:sldId id="259" r:id="rId35"/>
    <p:sldId id="260" r:id="rId36"/>
    <p:sldId id="261" r:id="rId37"/>
    <p:sldId id="262" r:id="rId38"/>
    <p:sldId id="263" r:id="rId39"/>
    <p:sldId id="264" r:id="rId40"/>
    <p:sldId id="265" r:id="rId41"/>
    <p:sldId id="266" r:id="rId42"/>
    <p:sldId id="267" r:id="rId43"/>
    <p:sldId id="268" r:id="rId44"/>
    <p:sldId id="269" r:id="rId45"/>
    <p:sldId id="270" r:id="rId46"/>
    <p:sldId id="271" r:id="rId47"/>
    <p:sldId id="272" r:id="rId48"/>
    <p:sldId id="273" r:id="rId49"/>
    <p:sldId id="274" r:id="rId50"/>
    <p:sldId id="275" r:id="rId51"/>
    <p:sldId id="276" r:id="rId52"/>
    <p:sldId id="277" r:id="rId53"/>
    <p:sldId id="278" r:id="rId54"/>
    <p:sldId id="279" r:id="rId55"/>
    <p:sldId id="280" r:id="rId56"/>
    <p:sldId id="281" r:id="rId57"/>
  </p:sldIdLst>
  <p:sldSz cy="5143500" cx="9144000"/>
  <p:notesSz cx="6858000" cy="9144000"/>
  <p:embeddedFontLst>
    <p:embeddedFont>
      <p:font typeface="Proxima Nova"/>
      <p:regular r:id="rId62"/>
      <p:bold r:id="rId63"/>
      <p:italic r:id="rId64"/>
      <p:boldItalic r:id="rId65"/>
    </p:embeddedFont>
    <p:embeddedFont>
      <p:font typeface="Roboto Medium"/>
      <p:regular r:id="rId66"/>
      <p:bold r:id="rId67"/>
      <p:italic r:id="rId68"/>
      <p:boldItalic r:id="rId69"/>
    </p:embeddedFont>
    <p:embeddedFont>
      <p:font typeface="Amatic SC"/>
      <p:regular r:id="rId70"/>
      <p:bold r:id="rId71"/>
    </p:embeddedFont>
    <p:embeddedFont>
      <p:font typeface="Lato"/>
      <p:regular r:id="rId72"/>
      <p:bold r:id="rId73"/>
      <p:italic r:id="rId74"/>
      <p:boldItalic r:id="rId75"/>
    </p:embeddedFont>
    <p:embeddedFont>
      <p:font typeface="Anaheim"/>
      <p:regular r:id="rId76"/>
      <p:bold r:id="rId77"/>
    </p:embeddedFont>
    <p:embeddedFont>
      <p:font typeface="Bebas Neue"/>
      <p:regular r:id="rId78"/>
    </p:embeddedFont>
    <p:embeddedFont>
      <p:font typeface="Merriweather"/>
      <p:regular r:id="rId79"/>
      <p:bold r:id="rId80"/>
      <p:italic r:id="rId81"/>
      <p:boldItalic r:id="rId82"/>
    </p:embeddedFont>
    <p:embeddedFont>
      <p:font typeface="DM Sans"/>
      <p:regular r:id="rId83"/>
      <p:bold r:id="rId84"/>
      <p:italic r:id="rId85"/>
      <p:boldItalic r:id="rId8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7C75BD-B9FB-48FE-BC11-CCA5B317A1EA}">
  <a:tblStyle styleId="{367C75BD-B9FB-48FE-BC11-CCA5B317A1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BF20D432-51C4-4B98-9887-E7BD2CB846D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Relationship Id="rId46" Type="http://schemas.openxmlformats.org/officeDocument/2006/relationships/slide" Target="slides/slide15.xml"/><Relationship Id="rId47" Type="http://schemas.openxmlformats.org/officeDocument/2006/relationships/slide" Target="slides/slide16.xml"/><Relationship Id="rId48" Type="http://schemas.openxmlformats.org/officeDocument/2006/relationships/slide" Target="slides/slide17.xml"/><Relationship Id="rId49" Type="http://schemas.openxmlformats.org/officeDocument/2006/relationships/slide" Target="slides/slide18.xml"/><Relationship Id="rId50" Type="http://schemas.openxmlformats.org/officeDocument/2006/relationships/slide" Target="slides/slide19.xml"/><Relationship Id="rId51" Type="http://schemas.openxmlformats.org/officeDocument/2006/relationships/slide" Target="slides/slide20.xml"/><Relationship Id="rId52" Type="http://schemas.openxmlformats.org/officeDocument/2006/relationships/slide" Target="slides/slide21.xml"/><Relationship Id="rId53" Type="http://schemas.openxmlformats.org/officeDocument/2006/relationships/slide" Target="slides/slide22.xml"/><Relationship Id="rId54" Type="http://schemas.openxmlformats.org/officeDocument/2006/relationships/slide" Target="slides/slide23.xml"/><Relationship Id="rId55" Type="http://schemas.openxmlformats.org/officeDocument/2006/relationships/slide" Target="slides/slide24.xml"/><Relationship Id="rId56" Type="http://schemas.openxmlformats.org/officeDocument/2006/relationships/slide" Target="slides/slide25.xml"/><Relationship Id="rId57" Type="http://schemas.openxmlformats.org/officeDocument/2006/relationships/slide" Target="slides/slide26.xml"/><Relationship Id="rId62" Type="http://schemas.openxmlformats.org/officeDocument/2006/relationships/font" Target="fonts/ProximaNova-regular.fntdata"/><Relationship Id="rId63" Type="http://schemas.openxmlformats.org/officeDocument/2006/relationships/font" Target="fonts/ProximaNova-bold.fntdata"/><Relationship Id="rId64" Type="http://schemas.openxmlformats.org/officeDocument/2006/relationships/font" Target="fonts/ProximaNova-italic.fntdata"/><Relationship Id="rId65" Type="http://schemas.openxmlformats.org/officeDocument/2006/relationships/font" Target="fonts/ProximaNova-boldItalic.fntdata"/><Relationship Id="rId66" Type="http://schemas.openxmlformats.org/officeDocument/2006/relationships/font" Target="fonts/RobotoMedium-regular.fntdata"/><Relationship Id="rId67" Type="http://schemas.openxmlformats.org/officeDocument/2006/relationships/font" Target="fonts/RobotoMedium-bold.fntdata"/><Relationship Id="rId68" Type="http://schemas.openxmlformats.org/officeDocument/2006/relationships/font" Target="fonts/RobotoMedium-italic.fntdata"/><Relationship Id="rId69" Type="http://schemas.openxmlformats.org/officeDocument/2006/relationships/font" Target="fonts/RobotoMedium-boldItalic.fntdata"/><Relationship Id="rId70" Type="http://schemas.openxmlformats.org/officeDocument/2006/relationships/font" Target="fonts/AmaticSC-regular.fntdata"/><Relationship Id="rId71" Type="http://schemas.openxmlformats.org/officeDocument/2006/relationships/font" Target="fonts/AmaticSC-bold.fntdata"/><Relationship Id="rId72" Type="http://schemas.openxmlformats.org/officeDocument/2006/relationships/font" Target="fonts/Lato-regular.fntdata"/><Relationship Id="rId73" Type="http://schemas.openxmlformats.org/officeDocument/2006/relationships/font" Target="fonts/Lato-bold.fntdata"/><Relationship Id="rId74" Type="http://schemas.openxmlformats.org/officeDocument/2006/relationships/font" Target="fonts/Lato-italic.fntdata"/><Relationship Id="rId75" Type="http://schemas.openxmlformats.org/officeDocument/2006/relationships/font" Target="fonts/Lato-boldItalic.fntdata"/><Relationship Id="rId76" Type="http://schemas.openxmlformats.org/officeDocument/2006/relationships/font" Target="fonts/Anaheim-regular.fntdata"/><Relationship Id="rId77" Type="http://schemas.openxmlformats.org/officeDocument/2006/relationships/font" Target="fonts/Anaheim-bold.fntdata"/><Relationship Id="rId78" Type="http://schemas.openxmlformats.org/officeDocument/2006/relationships/font" Target="fonts/BebasNeue-regular.fntdata"/><Relationship Id="rId79" Type="http://schemas.openxmlformats.org/officeDocument/2006/relationships/font" Target="fonts/Merriweather-regular.fntdata"/><Relationship Id="rId80" Type="http://schemas.openxmlformats.org/officeDocument/2006/relationships/font" Target="fonts/Merriweather-bold.fntdata"/><Relationship Id="rId81" Type="http://schemas.openxmlformats.org/officeDocument/2006/relationships/font" Target="fonts/Merriweather-italic.fntdata"/><Relationship Id="rId82" Type="http://schemas.openxmlformats.org/officeDocument/2006/relationships/font" Target="fonts/Merriweather-boldItalic.fntdata"/><Relationship Id="rId83" Type="http://schemas.openxmlformats.org/officeDocument/2006/relationships/font" Target="fonts/DMSans-regular.fntdata"/><Relationship Id="rId84" Type="http://schemas.openxmlformats.org/officeDocument/2006/relationships/font" Target="fonts/DMSans-bold.fntdata"/><Relationship Id="rId85" Type="http://schemas.openxmlformats.org/officeDocument/2006/relationships/font" Target="fonts/DMSans-italic.fntdata"/><Relationship Id="rId86" Type="http://schemas.openxmlformats.org/officeDocument/2006/relationships/font" Target="fonts/DM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7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9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29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5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29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5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24.png"/><Relationship Id="rId4" Type="http://schemas.openxmlformats.org/officeDocument/2006/relationships/image" Target="../media/image29.png"/><Relationship Id="rId5" Type="http://schemas.openxmlformats.org/officeDocument/2006/relationships/image" Target="../media/image16.png"/><Relationship Id="rId6" Type="http://schemas.openxmlformats.org/officeDocument/2006/relationships/image" Target="../media/image9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9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0" y="342350"/>
            <a:ext cx="9144000" cy="4458825"/>
            <a:chOff x="0" y="342350"/>
            <a:chExt cx="9144000" cy="4458825"/>
          </a:xfrm>
        </p:grpSpPr>
        <p:cxnSp>
          <p:nvCxnSpPr>
            <p:cNvPr id="11" name="Google Shape;11;p2"/>
            <p:cNvCxnSpPr/>
            <p:nvPr/>
          </p:nvCxnSpPr>
          <p:spPr>
            <a:xfrm>
              <a:off x="0" y="342350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" name="Google Shape;12;p2"/>
            <p:cNvCxnSpPr/>
            <p:nvPr/>
          </p:nvCxnSpPr>
          <p:spPr>
            <a:xfrm>
              <a:off x="0" y="4801175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" name="Google Shape;13;p2"/>
          <p:cNvSpPr txBox="1"/>
          <p:nvPr>
            <p:ph type="ctrTitle"/>
          </p:nvPr>
        </p:nvSpPr>
        <p:spPr>
          <a:xfrm>
            <a:off x="1745550" y="1300367"/>
            <a:ext cx="5652900" cy="173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433300" y="3367350"/>
            <a:ext cx="4277400" cy="475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3">
            <a:alphaModFix/>
          </a:blip>
          <a:srcRect b="0" l="0" r="3232" t="36431"/>
          <a:stretch/>
        </p:blipFill>
        <p:spPr>
          <a:xfrm rot="888420">
            <a:off x="432150" y="4163324"/>
            <a:ext cx="4447456" cy="19472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4">
            <a:alphaModFix/>
          </a:blip>
          <a:srcRect b="4240" l="2408" r="2054" t="14387"/>
          <a:stretch/>
        </p:blipFill>
        <p:spPr>
          <a:xfrm flipH="1" rot="10800000">
            <a:off x="5095100" y="-1593925"/>
            <a:ext cx="4547748" cy="258182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3"/>
          <p:cNvGrpSpPr/>
          <p:nvPr/>
        </p:nvGrpSpPr>
        <p:grpSpPr>
          <a:xfrm>
            <a:off x="0" y="342350"/>
            <a:ext cx="9144000" cy="4458825"/>
            <a:chOff x="0" y="342350"/>
            <a:chExt cx="9144000" cy="4458825"/>
          </a:xfrm>
        </p:grpSpPr>
        <p:cxnSp>
          <p:nvCxnSpPr>
            <p:cNvPr id="20" name="Google Shape;20;p3"/>
            <p:cNvCxnSpPr/>
            <p:nvPr/>
          </p:nvCxnSpPr>
          <p:spPr>
            <a:xfrm>
              <a:off x="0" y="342350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" name="Google Shape;21;p3"/>
            <p:cNvCxnSpPr/>
            <p:nvPr/>
          </p:nvCxnSpPr>
          <p:spPr>
            <a:xfrm>
              <a:off x="0" y="4801175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2" name="Google Shape;22;p3"/>
          <p:cNvSpPr txBox="1"/>
          <p:nvPr>
            <p:ph type="title"/>
          </p:nvPr>
        </p:nvSpPr>
        <p:spPr>
          <a:xfrm>
            <a:off x="2038200" y="2022988"/>
            <a:ext cx="5067600" cy="151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" name="Google Shape;23;p3"/>
          <p:cNvSpPr txBox="1"/>
          <p:nvPr>
            <p:ph hasCustomPrompt="1" idx="2" type="title"/>
          </p:nvPr>
        </p:nvSpPr>
        <p:spPr>
          <a:xfrm>
            <a:off x="3985200" y="971000"/>
            <a:ext cx="1173600" cy="734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2038200" y="3816788"/>
            <a:ext cx="5067600" cy="5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4"/>
          <p:cNvGrpSpPr/>
          <p:nvPr/>
        </p:nvGrpSpPr>
        <p:grpSpPr>
          <a:xfrm>
            <a:off x="0" y="342350"/>
            <a:ext cx="9144000" cy="4458825"/>
            <a:chOff x="0" y="342350"/>
            <a:chExt cx="9144000" cy="4458825"/>
          </a:xfrm>
        </p:grpSpPr>
        <p:cxnSp>
          <p:nvCxnSpPr>
            <p:cNvPr id="28" name="Google Shape;28;p4"/>
            <p:cNvCxnSpPr/>
            <p:nvPr/>
          </p:nvCxnSpPr>
          <p:spPr>
            <a:xfrm>
              <a:off x="0" y="342350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" name="Google Shape;29;p4"/>
            <p:cNvCxnSpPr/>
            <p:nvPr/>
          </p:nvCxnSpPr>
          <p:spPr>
            <a:xfrm>
              <a:off x="0" y="4801175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" name="Google Shape;30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720000" y="1215750"/>
            <a:ext cx="3890100" cy="18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" name="Google Shape;34;p5"/>
          <p:cNvGrpSpPr/>
          <p:nvPr/>
        </p:nvGrpSpPr>
        <p:grpSpPr>
          <a:xfrm>
            <a:off x="0" y="342350"/>
            <a:ext cx="9144000" cy="4458825"/>
            <a:chOff x="0" y="342350"/>
            <a:chExt cx="9144000" cy="4458825"/>
          </a:xfrm>
        </p:grpSpPr>
        <p:cxnSp>
          <p:nvCxnSpPr>
            <p:cNvPr id="35" name="Google Shape;35;p5"/>
            <p:cNvCxnSpPr/>
            <p:nvPr/>
          </p:nvCxnSpPr>
          <p:spPr>
            <a:xfrm>
              <a:off x="0" y="342350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" name="Google Shape;36;p5"/>
            <p:cNvCxnSpPr/>
            <p:nvPr/>
          </p:nvCxnSpPr>
          <p:spPr>
            <a:xfrm>
              <a:off x="0" y="4801175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7" name="Google Shape;37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3319222" y="3673148"/>
            <a:ext cx="25056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" name="Google Shape;39;p5"/>
          <p:cNvSpPr txBox="1"/>
          <p:nvPr>
            <p:ph idx="2" type="subTitle"/>
          </p:nvPr>
        </p:nvSpPr>
        <p:spPr>
          <a:xfrm>
            <a:off x="3319438" y="2009161"/>
            <a:ext cx="25056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" name="Google Shape;40;p5"/>
          <p:cNvSpPr txBox="1"/>
          <p:nvPr>
            <p:ph idx="3" type="subTitle"/>
          </p:nvPr>
        </p:nvSpPr>
        <p:spPr>
          <a:xfrm>
            <a:off x="3319213" y="3249122"/>
            <a:ext cx="2505600" cy="55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idx="4" type="subTitle"/>
          </p:nvPr>
        </p:nvSpPr>
        <p:spPr>
          <a:xfrm>
            <a:off x="3319213" y="1585135"/>
            <a:ext cx="2505600" cy="55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pic>
        <p:nvPicPr>
          <p:cNvPr id="42" name="Google Shape;42;p5"/>
          <p:cNvPicPr preferRelativeResize="0"/>
          <p:nvPr/>
        </p:nvPicPr>
        <p:blipFill rotWithShape="1">
          <a:blip r:embed="rId3">
            <a:alphaModFix/>
          </a:blip>
          <a:srcRect b="0" l="0" r="3232" t="36431"/>
          <a:stretch/>
        </p:blipFill>
        <p:spPr>
          <a:xfrm rot="3344400">
            <a:off x="-1446690" y="3740774"/>
            <a:ext cx="3523705" cy="15428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6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" name="Google Shape;45;p6"/>
          <p:cNvGrpSpPr/>
          <p:nvPr/>
        </p:nvGrpSpPr>
        <p:grpSpPr>
          <a:xfrm>
            <a:off x="0" y="342350"/>
            <a:ext cx="9144000" cy="4458825"/>
            <a:chOff x="0" y="342350"/>
            <a:chExt cx="9144000" cy="4458825"/>
          </a:xfrm>
        </p:grpSpPr>
        <p:cxnSp>
          <p:nvCxnSpPr>
            <p:cNvPr id="46" name="Google Shape;46;p6"/>
            <p:cNvCxnSpPr/>
            <p:nvPr/>
          </p:nvCxnSpPr>
          <p:spPr>
            <a:xfrm>
              <a:off x="0" y="342350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" name="Google Shape;47;p6"/>
            <p:cNvCxnSpPr/>
            <p:nvPr/>
          </p:nvCxnSpPr>
          <p:spPr>
            <a:xfrm>
              <a:off x="0" y="4801175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8" name="Google Shape;48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8846251">
            <a:off x="7569170" y="-188492"/>
            <a:ext cx="3052362" cy="109528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50" name="Google Shape;50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7698" y="4680200"/>
            <a:ext cx="4546007" cy="572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7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" name="Google Shape;53;p7"/>
          <p:cNvGrpSpPr/>
          <p:nvPr/>
        </p:nvGrpSpPr>
        <p:grpSpPr>
          <a:xfrm>
            <a:off x="0" y="342350"/>
            <a:ext cx="9144000" cy="4458825"/>
            <a:chOff x="0" y="342350"/>
            <a:chExt cx="9144000" cy="4458825"/>
          </a:xfrm>
        </p:grpSpPr>
        <p:cxnSp>
          <p:nvCxnSpPr>
            <p:cNvPr id="54" name="Google Shape;54;p7"/>
            <p:cNvCxnSpPr/>
            <p:nvPr/>
          </p:nvCxnSpPr>
          <p:spPr>
            <a:xfrm>
              <a:off x="0" y="342350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" name="Google Shape;55;p7"/>
            <p:cNvCxnSpPr/>
            <p:nvPr/>
          </p:nvCxnSpPr>
          <p:spPr>
            <a:xfrm>
              <a:off x="0" y="4801175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6" name="Google Shape;56;p7"/>
          <p:cNvSpPr txBox="1"/>
          <p:nvPr>
            <p:ph type="title"/>
          </p:nvPr>
        </p:nvSpPr>
        <p:spPr>
          <a:xfrm>
            <a:off x="713225" y="474300"/>
            <a:ext cx="3667200" cy="12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" type="subTitle"/>
          </p:nvPr>
        </p:nvSpPr>
        <p:spPr>
          <a:xfrm>
            <a:off x="713225" y="2224250"/>
            <a:ext cx="5454300" cy="21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La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8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" name="Google Shape;60;p8"/>
          <p:cNvGrpSpPr/>
          <p:nvPr/>
        </p:nvGrpSpPr>
        <p:grpSpPr>
          <a:xfrm>
            <a:off x="0" y="342350"/>
            <a:ext cx="9144000" cy="4458825"/>
            <a:chOff x="0" y="342350"/>
            <a:chExt cx="9144000" cy="4458825"/>
          </a:xfrm>
        </p:grpSpPr>
        <p:cxnSp>
          <p:nvCxnSpPr>
            <p:cNvPr id="61" name="Google Shape;61;p8"/>
            <p:cNvCxnSpPr/>
            <p:nvPr/>
          </p:nvCxnSpPr>
          <p:spPr>
            <a:xfrm>
              <a:off x="0" y="342350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" name="Google Shape;62;p8"/>
            <p:cNvCxnSpPr/>
            <p:nvPr/>
          </p:nvCxnSpPr>
          <p:spPr>
            <a:xfrm>
              <a:off x="0" y="4801175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3" name="Google Shape;63;p8"/>
          <p:cNvSpPr txBox="1"/>
          <p:nvPr>
            <p:ph type="title"/>
          </p:nvPr>
        </p:nvSpPr>
        <p:spPr>
          <a:xfrm>
            <a:off x="1768550" y="1307100"/>
            <a:ext cx="56070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9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" name="Google Shape;66;p9"/>
          <p:cNvGrpSpPr/>
          <p:nvPr/>
        </p:nvGrpSpPr>
        <p:grpSpPr>
          <a:xfrm>
            <a:off x="0" y="342350"/>
            <a:ext cx="9144000" cy="4458825"/>
            <a:chOff x="0" y="342350"/>
            <a:chExt cx="9144000" cy="4458825"/>
          </a:xfrm>
        </p:grpSpPr>
        <p:cxnSp>
          <p:nvCxnSpPr>
            <p:cNvPr id="67" name="Google Shape;67;p9"/>
            <p:cNvCxnSpPr/>
            <p:nvPr/>
          </p:nvCxnSpPr>
          <p:spPr>
            <a:xfrm>
              <a:off x="0" y="342350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" name="Google Shape;68;p9"/>
            <p:cNvCxnSpPr/>
            <p:nvPr/>
          </p:nvCxnSpPr>
          <p:spPr>
            <a:xfrm>
              <a:off x="0" y="4801175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9" name="Google Shape;69;p9"/>
          <p:cNvSpPr txBox="1"/>
          <p:nvPr>
            <p:ph type="title"/>
          </p:nvPr>
        </p:nvSpPr>
        <p:spPr>
          <a:xfrm>
            <a:off x="2135550" y="1655488"/>
            <a:ext cx="48729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" type="subTitle"/>
          </p:nvPr>
        </p:nvSpPr>
        <p:spPr>
          <a:xfrm>
            <a:off x="2135550" y="2816913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1" name="Google Shape;7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8087" y="4174200"/>
            <a:ext cx="5825377" cy="10581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72" name="Google Shape;72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-505515" y="278013"/>
            <a:ext cx="2608877" cy="17923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73" name="Google Shape;73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7133750" y="510236"/>
            <a:ext cx="2594052" cy="15735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0"/>
          <p:cNvSpPr txBox="1"/>
          <p:nvPr>
            <p:ph type="title"/>
          </p:nvPr>
        </p:nvSpPr>
        <p:spPr>
          <a:xfrm>
            <a:off x="3911450" y="539500"/>
            <a:ext cx="4512600" cy="1089000"/>
          </a:xfrm>
          <a:prstGeom prst="rect">
            <a:avLst/>
          </a:prstGeom>
          <a:solidFill>
            <a:schemeClr val="accen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1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" name="Google Shape;79;p11"/>
          <p:cNvGrpSpPr/>
          <p:nvPr/>
        </p:nvGrpSpPr>
        <p:grpSpPr>
          <a:xfrm>
            <a:off x="0" y="342350"/>
            <a:ext cx="9144000" cy="4458825"/>
            <a:chOff x="0" y="342350"/>
            <a:chExt cx="9144000" cy="4458825"/>
          </a:xfrm>
        </p:grpSpPr>
        <p:cxnSp>
          <p:nvCxnSpPr>
            <p:cNvPr id="80" name="Google Shape;80;p11"/>
            <p:cNvCxnSpPr/>
            <p:nvPr/>
          </p:nvCxnSpPr>
          <p:spPr>
            <a:xfrm>
              <a:off x="0" y="342350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" name="Google Shape;81;p11"/>
            <p:cNvCxnSpPr/>
            <p:nvPr/>
          </p:nvCxnSpPr>
          <p:spPr>
            <a:xfrm>
              <a:off x="0" y="4801175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2" name="Google Shape;82;p11"/>
          <p:cNvSpPr txBox="1"/>
          <p:nvPr>
            <p:ph hasCustomPrompt="1" type="title"/>
          </p:nvPr>
        </p:nvSpPr>
        <p:spPr>
          <a:xfrm>
            <a:off x="1733550" y="1466925"/>
            <a:ext cx="5676900" cy="1071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3" name="Google Shape;83;p11"/>
          <p:cNvSpPr txBox="1"/>
          <p:nvPr>
            <p:ph idx="1" type="subTitle"/>
          </p:nvPr>
        </p:nvSpPr>
        <p:spPr>
          <a:xfrm>
            <a:off x="1733550" y="3179475"/>
            <a:ext cx="56769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id="84" name="Google Shape;84;p11"/>
          <p:cNvPicPr preferRelativeResize="0"/>
          <p:nvPr/>
        </p:nvPicPr>
        <p:blipFill rotWithShape="1">
          <a:blip r:embed="rId3">
            <a:alphaModFix/>
          </a:blip>
          <a:srcRect b="0" l="0" r="3232" t="36431"/>
          <a:stretch/>
        </p:blipFill>
        <p:spPr>
          <a:xfrm rot="10800000">
            <a:off x="713227" y="-622724"/>
            <a:ext cx="3689723" cy="16154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3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" name="Google Shape;88;p13"/>
          <p:cNvGrpSpPr/>
          <p:nvPr/>
        </p:nvGrpSpPr>
        <p:grpSpPr>
          <a:xfrm>
            <a:off x="0" y="342350"/>
            <a:ext cx="9144000" cy="4458825"/>
            <a:chOff x="0" y="342350"/>
            <a:chExt cx="9144000" cy="4458825"/>
          </a:xfrm>
        </p:grpSpPr>
        <p:cxnSp>
          <p:nvCxnSpPr>
            <p:cNvPr id="89" name="Google Shape;89;p13"/>
            <p:cNvCxnSpPr/>
            <p:nvPr/>
          </p:nvCxnSpPr>
          <p:spPr>
            <a:xfrm>
              <a:off x="0" y="342350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" name="Google Shape;90;p13"/>
            <p:cNvCxnSpPr/>
            <p:nvPr/>
          </p:nvCxnSpPr>
          <p:spPr>
            <a:xfrm>
              <a:off x="0" y="4801175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1" name="Google Shape;91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hasCustomPrompt="1" idx="2" type="title"/>
          </p:nvPr>
        </p:nvSpPr>
        <p:spPr>
          <a:xfrm>
            <a:off x="719975" y="2027900"/>
            <a:ext cx="7140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/>
          <p:nvPr>
            <p:ph hasCustomPrompt="1" idx="3" type="title"/>
          </p:nvPr>
        </p:nvSpPr>
        <p:spPr>
          <a:xfrm>
            <a:off x="3419256" y="2027900"/>
            <a:ext cx="7140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/>
          <p:nvPr>
            <p:ph hasCustomPrompt="1" idx="4" type="title"/>
          </p:nvPr>
        </p:nvSpPr>
        <p:spPr>
          <a:xfrm>
            <a:off x="6118527" y="2027900"/>
            <a:ext cx="7140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5" name="Google Shape;95;p13"/>
          <p:cNvSpPr txBox="1"/>
          <p:nvPr>
            <p:ph idx="1" type="subTitle"/>
          </p:nvPr>
        </p:nvSpPr>
        <p:spPr>
          <a:xfrm>
            <a:off x="719975" y="2649387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5" type="subTitle"/>
          </p:nvPr>
        </p:nvSpPr>
        <p:spPr>
          <a:xfrm>
            <a:off x="3419246" y="2649387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7" name="Google Shape;97;p13"/>
          <p:cNvSpPr txBox="1"/>
          <p:nvPr>
            <p:ph idx="6" type="subTitle"/>
          </p:nvPr>
        </p:nvSpPr>
        <p:spPr>
          <a:xfrm>
            <a:off x="6118524" y="2649387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pic>
        <p:nvPicPr>
          <p:cNvPr id="98" name="Google Shape;9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8100000">
            <a:off x="7189308" y="-337159"/>
            <a:ext cx="3000868" cy="107681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st="85725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4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14"/>
          <p:cNvGrpSpPr/>
          <p:nvPr/>
        </p:nvGrpSpPr>
        <p:grpSpPr>
          <a:xfrm>
            <a:off x="0" y="342350"/>
            <a:ext cx="9144000" cy="4458825"/>
            <a:chOff x="0" y="342350"/>
            <a:chExt cx="9144000" cy="4458825"/>
          </a:xfrm>
        </p:grpSpPr>
        <p:cxnSp>
          <p:nvCxnSpPr>
            <p:cNvPr id="102" name="Google Shape;102;p14"/>
            <p:cNvCxnSpPr/>
            <p:nvPr/>
          </p:nvCxnSpPr>
          <p:spPr>
            <a:xfrm>
              <a:off x="0" y="342350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" name="Google Shape;103;p14"/>
            <p:cNvCxnSpPr/>
            <p:nvPr/>
          </p:nvCxnSpPr>
          <p:spPr>
            <a:xfrm>
              <a:off x="0" y="4801175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4" name="Google Shape;104;p14"/>
          <p:cNvSpPr txBox="1"/>
          <p:nvPr>
            <p:ph type="title"/>
          </p:nvPr>
        </p:nvSpPr>
        <p:spPr>
          <a:xfrm>
            <a:off x="713250" y="3942200"/>
            <a:ext cx="77175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5" name="Google Shape;105;p14"/>
          <p:cNvSpPr txBox="1"/>
          <p:nvPr>
            <p:ph idx="1" type="subTitle"/>
          </p:nvPr>
        </p:nvSpPr>
        <p:spPr>
          <a:xfrm>
            <a:off x="713225" y="1265425"/>
            <a:ext cx="7717500" cy="177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1655225" y="-53900"/>
            <a:ext cx="6202301" cy="9024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BLANK_1_1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" name="Google Shape;109;p15"/>
          <p:cNvGrpSpPr/>
          <p:nvPr/>
        </p:nvGrpSpPr>
        <p:grpSpPr>
          <a:xfrm>
            <a:off x="0" y="342350"/>
            <a:ext cx="9144000" cy="4458825"/>
            <a:chOff x="0" y="342350"/>
            <a:chExt cx="9144000" cy="4458825"/>
          </a:xfrm>
        </p:grpSpPr>
        <p:cxnSp>
          <p:nvCxnSpPr>
            <p:cNvPr id="110" name="Google Shape;110;p15"/>
            <p:cNvCxnSpPr/>
            <p:nvPr/>
          </p:nvCxnSpPr>
          <p:spPr>
            <a:xfrm>
              <a:off x="0" y="342350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" name="Google Shape;111;p15"/>
            <p:cNvCxnSpPr/>
            <p:nvPr/>
          </p:nvCxnSpPr>
          <p:spPr>
            <a:xfrm>
              <a:off x="0" y="4801175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2" name="Google Shape;112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3232" t="36431"/>
          <a:stretch/>
        </p:blipFill>
        <p:spPr>
          <a:xfrm rot="-1700966">
            <a:off x="7421243" y="4216616"/>
            <a:ext cx="3038439" cy="133033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14" name="Google Shape;11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9501419">
            <a:off x="-882059" y="-606265"/>
            <a:ext cx="3190572" cy="147712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BLANK_1_1_1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7" name="Google Shape;117;p16"/>
          <p:cNvGrpSpPr/>
          <p:nvPr/>
        </p:nvGrpSpPr>
        <p:grpSpPr>
          <a:xfrm>
            <a:off x="0" y="342350"/>
            <a:ext cx="9144000" cy="4458825"/>
            <a:chOff x="0" y="342350"/>
            <a:chExt cx="9144000" cy="4458825"/>
          </a:xfrm>
        </p:grpSpPr>
        <p:cxnSp>
          <p:nvCxnSpPr>
            <p:cNvPr id="118" name="Google Shape;118;p16"/>
            <p:cNvCxnSpPr/>
            <p:nvPr/>
          </p:nvCxnSpPr>
          <p:spPr>
            <a:xfrm>
              <a:off x="0" y="342350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" name="Google Shape;119;p16"/>
            <p:cNvCxnSpPr/>
            <p:nvPr/>
          </p:nvCxnSpPr>
          <p:spPr>
            <a:xfrm>
              <a:off x="0" y="4801175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0" name="Google Shape;120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BLANK_1_1_1_1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7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" name="Google Shape;123;p17"/>
          <p:cNvGrpSpPr/>
          <p:nvPr/>
        </p:nvGrpSpPr>
        <p:grpSpPr>
          <a:xfrm>
            <a:off x="0" y="342350"/>
            <a:ext cx="9144000" cy="4458825"/>
            <a:chOff x="0" y="342350"/>
            <a:chExt cx="9144000" cy="4458825"/>
          </a:xfrm>
        </p:grpSpPr>
        <p:cxnSp>
          <p:nvCxnSpPr>
            <p:cNvPr id="124" name="Google Shape;124;p17"/>
            <p:cNvCxnSpPr/>
            <p:nvPr/>
          </p:nvCxnSpPr>
          <p:spPr>
            <a:xfrm>
              <a:off x="0" y="342350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" name="Google Shape;125;p17"/>
            <p:cNvCxnSpPr/>
            <p:nvPr/>
          </p:nvCxnSpPr>
          <p:spPr>
            <a:xfrm>
              <a:off x="0" y="4801175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6" name="Google Shape;126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127" name="Google Shape;12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699980">
            <a:off x="-912104" y="3437482"/>
            <a:ext cx="2544213" cy="178636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BLANK_1_1_1_1_1_2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8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" name="Google Shape;130;p18"/>
          <p:cNvGrpSpPr/>
          <p:nvPr/>
        </p:nvGrpSpPr>
        <p:grpSpPr>
          <a:xfrm>
            <a:off x="0" y="342350"/>
            <a:ext cx="9144000" cy="4458825"/>
            <a:chOff x="0" y="342350"/>
            <a:chExt cx="9144000" cy="4458825"/>
          </a:xfrm>
        </p:grpSpPr>
        <p:cxnSp>
          <p:nvCxnSpPr>
            <p:cNvPr id="131" name="Google Shape;131;p18"/>
            <p:cNvCxnSpPr/>
            <p:nvPr/>
          </p:nvCxnSpPr>
          <p:spPr>
            <a:xfrm>
              <a:off x="0" y="342350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" name="Google Shape;132;p18"/>
            <p:cNvCxnSpPr/>
            <p:nvPr/>
          </p:nvCxnSpPr>
          <p:spPr>
            <a:xfrm>
              <a:off x="0" y="4801175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3" name="Google Shape;133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134" name="Google Shape;13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9504564">
            <a:off x="7471798" y="-629700"/>
            <a:ext cx="2453125" cy="16853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9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7" name="Google Shape;137;p19"/>
          <p:cNvGrpSpPr/>
          <p:nvPr/>
        </p:nvGrpSpPr>
        <p:grpSpPr>
          <a:xfrm>
            <a:off x="0" y="342350"/>
            <a:ext cx="9144000" cy="4458825"/>
            <a:chOff x="0" y="342350"/>
            <a:chExt cx="9144000" cy="4458825"/>
          </a:xfrm>
        </p:grpSpPr>
        <p:cxnSp>
          <p:nvCxnSpPr>
            <p:cNvPr id="138" name="Google Shape;138;p19"/>
            <p:cNvCxnSpPr/>
            <p:nvPr/>
          </p:nvCxnSpPr>
          <p:spPr>
            <a:xfrm>
              <a:off x="0" y="342350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" name="Google Shape;139;p19"/>
            <p:cNvCxnSpPr/>
            <p:nvPr/>
          </p:nvCxnSpPr>
          <p:spPr>
            <a:xfrm>
              <a:off x="0" y="4801175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0" name="Google Shape;140;p19"/>
          <p:cNvSpPr txBox="1"/>
          <p:nvPr>
            <p:ph type="title"/>
          </p:nvPr>
        </p:nvSpPr>
        <p:spPr>
          <a:xfrm>
            <a:off x="4911175" y="968925"/>
            <a:ext cx="3519600" cy="22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1" name="Google Shape;141;p19"/>
          <p:cNvSpPr txBox="1"/>
          <p:nvPr>
            <p:ph idx="1" type="subTitle"/>
          </p:nvPr>
        </p:nvSpPr>
        <p:spPr>
          <a:xfrm>
            <a:off x="4911175" y="3264975"/>
            <a:ext cx="3519600" cy="9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9"/>
          <p:cNvSpPr/>
          <p:nvPr>
            <p:ph idx="2" type="pic"/>
          </p:nvPr>
        </p:nvSpPr>
        <p:spPr>
          <a:xfrm>
            <a:off x="0" y="1025600"/>
            <a:ext cx="4500000" cy="3092400"/>
          </a:xfrm>
          <a:prstGeom prst="rect">
            <a:avLst/>
          </a:prstGeom>
          <a:noFill/>
          <a:ln>
            <a:noFill/>
          </a:ln>
        </p:spPr>
      </p:sp>
      <p:pic>
        <p:nvPicPr>
          <p:cNvPr id="143" name="Google Shape;14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7000324" y="-381050"/>
            <a:ext cx="2612776" cy="1723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0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6" name="Google Shape;146;p20"/>
          <p:cNvGrpSpPr/>
          <p:nvPr/>
        </p:nvGrpSpPr>
        <p:grpSpPr>
          <a:xfrm>
            <a:off x="0" y="342350"/>
            <a:ext cx="9144000" cy="4458825"/>
            <a:chOff x="0" y="342350"/>
            <a:chExt cx="9144000" cy="4458825"/>
          </a:xfrm>
        </p:grpSpPr>
        <p:cxnSp>
          <p:nvCxnSpPr>
            <p:cNvPr id="147" name="Google Shape;147;p20"/>
            <p:cNvCxnSpPr/>
            <p:nvPr/>
          </p:nvCxnSpPr>
          <p:spPr>
            <a:xfrm>
              <a:off x="0" y="342350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" name="Google Shape;148;p20"/>
            <p:cNvCxnSpPr/>
            <p:nvPr/>
          </p:nvCxnSpPr>
          <p:spPr>
            <a:xfrm>
              <a:off x="0" y="4801175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9" name="Google Shape;149;p20"/>
          <p:cNvSpPr txBox="1"/>
          <p:nvPr>
            <p:ph type="title"/>
          </p:nvPr>
        </p:nvSpPr>
        <p:spPr>
          <a:xfrm>
            <a:off x="720000" y="1414175"/>
            <a:ext cx="2507100" cy="120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0" name="Google Shape;150;p20"/>
          <p:cNvSpPr txBox="1"/>
          <p:nvPr>
            <p:ph idx="1" type="subTitle"/>
          </p:nvPr>
        </p:nvSpPr>
        <p:spPr>
          <a:xfrm>
            <a:off x="720000" y="2623525"/>
            <a:ext cx="2507100" cy="11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1" name="Google Shape;151;p20"/>
          <p:cNvPicPr preferRelativeResize="0"/>
          <p:nvPr/>
        </p:nvPicPr>
        <p:blipFill rotWithShape="1">
          <a:blip r:embed="rId3">
            <a:alphaModFix/>
          </a:blip>
          <a:srcRect b="0" l="40922" r="1385" t="0"/>
          <a:stretch/>
        </p:blipFill>
        <p:spPr>
          <a:xfrm rot="-2458219">
            <a:off x="7335637" y="3865501"/>
            <a:ext cx="2471474" cy="19832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1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4" name="Google Shape;154;p21"/>
          <p:cNvGrpSpPr/>
          <p:nvPr/>
        </p:nvGrpSpPr>
        <p:grpSpPr>
          <a:xfrm>
            <a:off x="0" y="342350"/>
            <a:ext cx="9144000" cy="4458825"/>
            <a:chOff x="0" y="342350"/>
            <a:chExt cx="9144000" cy="4458825"/>
          </a:xfrm>
        </p:grpSpPr>
        <p:cxnSp>
          <p:nvCxnSpPr>
            <p:cNvPr id="155" name="Google Shape;155;p21"/>
            <p:cNvCxnSpPr/>
            <p:nvPr/>
          </p:nvCxnSpPr>
          <p:spPr>
            <a:xfrm>
              <a:off x="0" y="342350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" name="Google Shape;156;p21"/>
            <p:cNvCxnSpPr/>
            <p:nvPr/>
          </p:nvCxnSpPr>
          <p:spPr>
            <a:xfrm>
              <a:off x="0" y="4801175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7" name="Google Shape;157;p21"/>
          <p:cNvSpPr txBox="1"/>
          <p:nvPr>
            <p:ph type="title"/>
          </p:nvPr>
        </p:nvSpPr>
        <p:spPr>
          <a:xfrm>
            <a:off x="5932549" y="1415081"/>
            <a:ext cx="2505300" cy="120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8" name="Google Shape;158;p21"/>
          <p:cNvSpPr txBox="1"/>
          <p:nvPr>
            <p:ph idx="1" type="subTitle"/>
          </p:nvPr>
        </p:nvSpPr>
        <p:spPr>
          <a:xfrm>
            <a:off x="5932668" y="2648125"/>
            <a:ext cx="2505300" cy="10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9" name="Google Shape;15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34461" y="3358850"/>
            <a:ext cx="3178132" cy="20959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2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2" name="Google Shape;162;p22"/>
          <p:cNvGrpSpPr/>
          <p:nvPr/>
        </p:nvGrpSpPr>
        <p:grpSpPr>
          <a:xfrm>
            <a:off x="0" y="342350"/>
            <a:ext cx="9144000" cy="4458825"/>
            <a:chOff x="0" y="342350"/>
            <a:chExt cx="9144000" cy="4458825"/>
          </a:xfrm>
        </p:grpSpPr>
        <p:cxnSp>
          <p:nvCxnSpPr>
            <p:cNvPr id="163" name="Google Shape;163;p22"/>
            <p:cNvCxnSpPr/>
            <p:nvPr/>
          </p:nvCxnSpPr>
          <p:spPr>
            <a:xfrm>
              <a:off x="0" y="342350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" name="Google Shape;164;p22"/>
            <p:cNvCxnSpPr/>
            <p:nvPr/>
          </p:nvCxnSpPr>
          <p:spPr>
            <a:xfrm>
              <a:off x="0" y="4801175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65" name="Google Shape;165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6" name="Google Shape;166;p22"/>
          <p:cNvSpPr txBox="1"/>
          <p:nvPr>
            <p:ph idx="1" type="subTitle"/>
          </p:nvPr>
        </p:nvSpPr>
        <p:spPr>
          <a:xfrm>
            <a:off x="2316350" y="3489021"/>
            <a:ext cx="5171700" cy="6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2"/>
          <p:cNvSpPr txBox="1"/>
          <p:nvPr>
            <p:ph idx="2" type="subTitle"/>
          </p:nvPr>
        </p:nvSpPr>
        <p:spPr>
          <a:xfrm>
            <a:off x="2316375" y="2121233"/>
            <a:ext cx="5171700" cy="6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22"/>
          <p:cNvSpPr txBox="1"/>
          <p:nvPr>
            <p:ph idx="3" type="subTitle"/>
          </p:nvPr>
        </p:nvSpPr>
        <p:spPr>
          <a:xfrm>
            <a:off x="2316376" y="1699058"/>
            <a:ext cx="51717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69" name="Google Shape;169;p22"/>
          <p:cNvSpPr txBox="1"/>
          <p:nvPr>
            <p:ph idx="4" type="subTitle"/>
          </p:nvPr>
        </p:nvSpPr>
        <p:spPr>
          <a:xfrm>
            <a:off x="2316358" y="3066847"/>
            <a:ext cx="51717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3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2" name="Google Shape;172;p23"/>
          <p:cNvGrpSpPr/>
          <p:nvPr/>
        </p:nvGrpSpPr>
        <p:grpSpPr>
          <a:xfrm>
            <a:off x="0" y="342350"/>
            <a:ext cx="9144000" cy="4458825"/>
            <a:chOff x="0" y="342350"/>
            <a:chExt cx="9144000" cy="4458825"/>
          </a:xfrm>
        </p:grpSpPr>
        <p:cxnSp>
          <p:nvCxnSpPr>
            <p:cNvPr id="173" name="Google Shape;173;p23"/>
            <p:cNvCxnSpPr/>
            <p:nvPr/>
          </p:nvCxnSpPr>
          <p:spPr>
            <a:xfrm>
              <a:off x="0" y="342350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" name="Google Shape;174;p23"/>
            <p:cNvCxnSpPr/>
            <p:nvPr/>
          </p:nvCxnSpPr>
          <p:spPr>
            <a:xfrm>
              <a:off x="0" y="4801175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5" name="Google Shape;175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6" name="Google Shape;176;p23"/>
          <p:cNvSpPr txBox="1"/>
          <p:nvPr>
            <p:ph idx="1" type="subTitle"/>
          </p:nvPr>
        </p:nvSpPr>
        <p:spPr>
          <a:xfrm>
            <a:off x="4710034" y="2052675"/>
            <a:ext cx="3714000" cy="16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3"/>
          <p:cNvSpPr txBox="1"/>
          <p:nvPr>
            <p:ph idx="2" type="subTitle"/>
          </p:nvPr>
        </p:nvSpPr>
        <p:spPr>
          <a:xfrm>
            <a:off x="719963" y="2052675"/>
            <a:ext cx="3714000" cy="16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8" name="Google Shape;17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9333" y="4425026"/>
            <a:ext cx="5461417" cy="794677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4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1" name="Google Shape;181;p24"/>
          <p:cNvGrpSpPr/>
          <p:nvPr/>
        </p:nvGrpSpPr>
        <p:grpSpPr>
          <a:xfrm>
            <a:off x="0" y="342350"/>
            <a:ext cx="9144000" cy="4458825"/>
            <a:chOff x="0" y="342350"/>
            <a:chExt cx="9144000" cy="4458825"/>
          </a:xfrm>
        </p:grpSpPr>
        <p:cxnSp>
          <p:nvCxnSpPr>
            <p:cNvPr id="182" name="Google Shape;182;p24"/>
            <p:cNvCxnSpPr/>
            <p:nvPr/>
          </p:nvCxnSpPr>
          <p:spPr>
            <a:xfrm>
              <a:off x="0" y="342350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3" name="Google Shape;183;p24"/>
            <p:cNvCxnSpPr/>
            <p:nvPr/>
          </p:nvCxnSpPr>
          <p:spPr>
            <a:xfrm>
              <a:off x="0" y="4801175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4" name="Google Shape;184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5" name="Google Shape;185;p24"/>
          <p:cNvSpPr txBox="1"/>
          <p:nvPr>
            <p:ph idx="1" type="subTitle"/>
          </p:nvPr>
        </p:nvSpPr>
        <p:spPr>
          <a:xfrm>
            <a:off x="937625" y="2798920"/>
            <a:ext cx="2175300" cy="8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24"/>
          <p:cNvSpPr txBox="1"/>
          <p:nvPr>
            <p:ph idx="2" type="subTitle"/>
          </p:nvPr>
        </p:nvSpPr>
        <p:spPr>
          <a:xfrm>
            <a:off x="3484350" y="2798920"/>
            <a:ext cx="2175300" cy="8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4"/>
          <p:cNvSpPr txBox="1"/>
          <p:nvPr>
            <p:ph idx="3" type="subTitle"/>
          </p:nvPr>
        </p:nvSpPr>
        <p:spPr>
          <a:xfrm>
            <a:off x="6031075" y="2798920"/>
            <a:ext cx="2175300" cy="8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24"/>
          <p:cNvSpPr txBox="1"/>
          <p:nvPr>
            <p:ph idx="4" type="subTitle"/>
          </p:nvPr>
        </p:nvSpPr>
        <p:spPr>
          <a:xfrm>
            <a:off x="937625" y="2374265"/>
            <a:ext cx="2175300" cy="55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9" name="Google Shape;189;p24"/>
          <p:cNvSpPr txBox="1"/>
          <p:nvPr>
            <p:ph idx="5" type="subTitle"/>
          </p:nvPr>
        </p:nvSpPr>
        <p:spPr>
          <a:xfrm>
            <a:off x="3484350" y="2374265"/>
            <a:ext cx="2175300" cy="55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0" name="Google Shape;190;p24"/>
          <p:cNvSpPr txBox="1"/>
          <p:nvPr>
            <p:ph idx="6" type="subTitle"/>
          </p:nvPr>
        </p:nvSpPr>
        <p:spPr>
          <a:xfrm>
            <a:off x="6031075" y="2374265"/>
            <a:ext cx="2175300" cy="55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pic>
        <p:nvPicPr>
          <p:cNvPr id="191" name="Google Shape;19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0063" y="4455490"/>
            <a:ext cx="5461417" cy="68800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5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4" name="Google Shape;194;p25"/>
          <p:cNvGrpSpPr/>
          <p:nvPr/>
        </p:nvGrpSpPr>
        <p:grpSpPr>
          <a:xfrm>
            <a:off x="0" y="342350"/>
            <a:ext cx="9144000" cy="4458825"/>
            <a:chOff x="0" y="342350"/>
            <a:chExt cx="9144000" cy="4458825"/>
          </a:xfrm>
        </p:grpSpPr>
        <p:cxnSp>
          <p:nvCxnSpPr>
            <p:cNvPr id="195" name="Google Shape;195;p25"/>
            <p:cNvCxnSpPr/>
            <p:nvPr/>
          </p:nvCxnSpPr>
          <p:spPr>
            <a:xfrm>
              <a:off x="0" y="342350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6" name="Google Shape;196;p25"/>
            <p:cNvCxnSpPr/>
            <p:nvPr/>
          </p:nvCxnSpPr>
          <p:spPr>
            <a:xfrm>
              <a:off x="0" y="4801175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7" name="Google Shape;197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8" name="Google Shape;198;p25"/>
          <p:cNvSpPr txBox="1"/>
          <p:nvPr>
            <p:ph idx="1" type="subTitle"/>
          </p:nvPr>
        </p:nvSpPr>
        <p:spPr>
          <a:xfrm>
            <a:off x="1477650" y="1682025"/>
            <a:ext cx="6188700" cy="6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25"/>
          <p:cNvSpPr txBox="1"/>
          <p:nvPr>
            <p:ph idx="2" type="subTitle"/>
          </p:nvPr>
        </p:nvSpPr>
        <p:spPr>
          <a:xfrm>
            <a:off x="1477650" y="2758075"/>
            <a:ext cx="6188700" cy="6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25"/>
          <p:cNvSpPr txBox="1"/>
          <p:nvPr>
            <p:ph idx="3" type="subTitle"/>
          </p:nvPr>
        </p:nvSpPr>
        <p:spPr>
          <a:xfrm>
            <a:off x="1477650" y="3834125"/>
            <a:ext cx="6188700" cy="6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1" name="Google Shape;20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0013" y="4536165"/>
            <a:ext cx="5461417" cy="68800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02" name="Google Shape;202;p25"/>
          <p:cNvSpPr txBox="1"/>
          <p:nvPr>
            <p:ph idx="4" type="subTitle"/>
          </p:nvPr>
        </p:nvSpPr>
        <p:spPr>
          <a:xfrm>
            <a:off x="1477648" y="1291025"/>
            <a:ext cx="6188700" cy="55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3" name="Google Shape;203;p25"/>
          <p:cNvSpPr txBox="1"/>
          <p:nvPr>
            <p:ph idx="5" type="subTitle"/>
          </p:nvPr>
        </p:nvSpPr>
        <p:spPr>
          <a:xfrm>
            <a:off x="1477650" y="2367075"/>
            <a:ext cx="6188700" cy="55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4" name="Google Shape;204;p25"/>
          <p:cNvSpPr txBox="1"/>
          <p:nvPr>
            <p:ph idx="6" type="subTitle"/>
          </p:nvPr>
        </p:nvSpPr>
        <p:spPr>
          <a:xfrm>
            <a:off x="1477651" y="3443125"/>
            <a:ext cx="6188700" cy="55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6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7" name="Google Shape;207;p26"/>
          <p:cNvGrpSpPr/>
          <p:nvPr/>
        </p:nvGrpSpPr>
        <p:grpSpPr>
          <a:xfrm>
            <a:off x="0" y="342350"/>
            <a:ext cx="9144000" cy="4458825"/>
            <a:chOff x="0" y="342350"/>
            <a:chExt cx="9144000" cy="4458825"/>
          </a:xfrm>
        </p:grpSpPr>
        <p:cxnSp>
          <p:nvCxnSpPr>
            <p:cNvPr id="208" name="Google Shape;208;p26"/>
            <p:cNvCxnSpPr/>
            <p:nvPr/>
          </p:nvCxnSpPr>
          <p:spPr>
            <a:xfrm>
              <a:off x="0" y="342350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9" name="Google Shape;209;p26"/>
            <p:cNvCxnSpPr/>
            <p:nvPr/>
          </p:nvCxnSpPr>
          <p:spPr>
            <a:xfrm>
              <a:off x="0" y="4801175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10" name="Google Shape;210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1" name="Google Shape;211;p26"/>
          <p:cNvSpPr txBox="1"/>
          <p:nvPr>
            <p:ph idx="1" type="subTitle"/>
          </p:nvPr>
        </p:nvSpPr>
        <p:spPr>
          <a:xfrm>
            <a:off x="2320175" y="2138595"/>
            <a:ext cx="19782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6"/>
          <p:cNvSpPr txBox="1"/>
          <p:nvPr>
            <p:ph idx="2" type="subTitle"/>
          </p:nvPr>
        </p:nvSpPr>
        <p:spPr>
          <a:xfrm>
            <a:off x="5417772" y="2138595"/>
            <a:ext cx="19782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6"/>
          <p:cNvSpPr txBox="1"/>
          <p:nvPr>
            <p:ph idx="3" type="subTitle"/>
          </p:nvPr>
        </p:nvSpPr>
        <p:spPr>
          <a:xfrm>
            <a:off x="2320186" y="3552920"/>
            <a:ext cx="19782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6"/>
          <p:cNvSpPr txBox="1"/>
          <p:nvPr>
            <p:ph idx="4" type="subTitle"/>
          </p:nvPr>
        </p:nvSpPr>
        <p:spPr>
          <a:xfrm>
            <a:off x="5417764" y="3552920"/>
            <a:ext cx="19782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26"/>
          <p:cNvSpPr txBox="1"/>
          <p:nvPr>
            <p:ph idx="5" type="subTitle"/>
          </p:nvPr>
        </p:nvSpPr>
        <p:spPr>
          <a:xfrm>
            <a:off x="2320186" y="1715950"/>
            <a:ext cx="1978200" cy="55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6" name="Google Shape;216;p26"/>
          <p:cNvSpPr txBox="1"/>
          <p:nvPr>
            <p:ph idx="6" type="subTitle"/>
          </p:nvPr>
        </p:nvSpPr>
        <p:spPr>
          <a:xfrm>
            <a:off x="2320186" y="3130375"/>
            <a:ext cx="1978200" cy="55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7" name="Google Shape;217;p26"/>
          <p:cNvSpPr txBox="1"/>
          <p:nvPr>
            <p:ph idx="7" type="subTitle"/>
          </p:nvPr>
        </p:nvSpPr>
        <p:spPr>
          <a:xfrm>
            <a:off x="5417761" y="1715950"/>
            <a:ext cx="1978200" cy="55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8" name="Google Shape;218;p26"/>
          <p:cNvSpPr txBox="1"/>
          <p:nvPr>
            <p:ph idx="8" type="subTitle"/>
          </p:nvPr>
        </p:nvSpPr>
        <p:spPr>
          <a:xfrm>
            <a:off x="5417761" y="3130375"/>
            <a:ext cx="1978200" cy="55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7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1" name="Google Shape;221;p27"/>
          <p:cNvGrpSpPr/>
          <p:nvPr/>
        </p:nvGrpSpPr>
        <p:grpSpPr>
          <a:xfrm>
            <a:off x="0" y="342350"/>
            <a:ext cx="9144000" cy="4458825"/>
            <a:chOff x="0" y="342350"/>
            <a:chExt cx="9144000" cy="4458825"/>
          </a:xfrm>
        </p:grpSpPr>
        <p:cxnSp>
          <p:nvCxnSpPr>
            <p:cNvPr id="222" name="Google Shape;222;p27"/>
            <p:cNvCxnSpPr/>
            <p:nvPr/>
          </p:nvCxnSpPr>
          <p:spPr>
            <a:xfrm>
              <a:off x="0" y="342350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3" name="Google Shape;223;p27"/>
            <p:cNvCxnSpPr/>
            <p:nvPr/>
          </p:nvCxnSpPr>
          <p:spPr>
            <a:xfrm>
              <a:off x="0" y="4801175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24" name="Google Shape;224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5" name="Google Shape;225;p27"/>
          <p:cNvSpPr txBox="1"/>
          <p:nvPr>
            <p:ph idx="1" type="subTitle"/>
          </p:nvPr>
        </p:nvSpPr>
        <p:spPr>
          <a:xfrm>
            <a:off x="1108627" y="2073000"/>
            <a:ext cx="19860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7"/>
          <p:cNvSpPr txBox="1"/>
          <p:nvPr>
            <p:ph idx="2" type="subTitle"/>
          </p:nvPr>
        </p:nvSpPr>
        <p:spPr>
          <a:xfrm>
            <a:off x="3579000" y="2073000"/>
            <a:ext cx="19860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27"/>
          <p:cNvSpPr txBox="1"/>
          <p:nvPr>
            <p:ph idx="3" type="subTitle"/>
          </p:nvPr>
        </p:nvSpPr>
        <p:spPr>
          <a:xfrm>
            <a:off x="1108627" y="3503225"/>
            <a:ext cx="19860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7"/>
          <p:cNvSpPr txBox="1"/>
          <p:nvPr>
            <p:ph idx="4" type="subTitle"/>
          </p:nvPr>
        </p:nvSpPr>
        <p:spPr>
          <a:xfrm>
            <a:off x="3579000" y="3503225"/>
            <a:ext cx="19860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7"/>
          <p:cNvSpPr txBox="1"/>
          <p:nvPr>
            <p:ph idx="5" type="subTitle"/>
          </p:nvPr>
        </p:nvSpPr>
        <p:spPr>
          <a:xfrm>
            <a:off x="6049373" y="2073000"/>
            <a:ext cx="19860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27"/>
          <p:cNvSpPr txBox="1"/>
          <p:nvPr>
            <p:ph idx="6" type="subTitle"/>
          </p:nvPr>
        </p:nvSpPr>
        <p:spPr>
          <a:xfrm>
            <a:off x="6049373" y="3503225"/>
            <a:ext cx="19860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27"/>
          <p:cNvSpPr txBox="1"/>
          <p:nvPr>
            <p:ph idx="7" type="subTitle"/>
          </p:nvPr>
        </p:nvSpPr>
        <p:spPr>
          <a:xfrm>
            <a:off x="1109527" y="1656599"/>
            <a:ext cx="1984200" cy="55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2" name="Google Shape;232;p27"/>
          <p:cNvSpPr txBox="1"/>
          <p:nvPr>
            <p:ph idx="8" type="subTitle"/>
          </p:nvPr>
        </p:nvSpPr>
        <p:spPr>
          <a:xfrm>
            <a:off x="3579900" y="1656599"/>
            <a:ext cx="1984200" cy="55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3" name="Google Shape;233;p27"/>
          <p:cNvSpPr txBox="1"/>
          <p:nvPr>
            <p:ph idx="9" type="subTitle"/>
          </p:nvPr>
        </p:nvSpPr>
        <p:spPr>
          <a:xfrm>
            <a:off x="6050273" y="1656599"/>
            <a:ext cx="1984200" cy="55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4" name="Google Shape;234;p27"/>
          <p:cNvSpPr txBox="1"/>
          <p:nvPr>
            <p:ph idx="13" type="subTitle"/>
          </p:nvPr>
        </p:nvSpPr>
        <p:spPr>
          <a:xfrm>
            <a:off x="1109527" y="3086800"/>
            <a:ext cx="1984200" cy="55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5" name="Google Shape;235;p27"/>
          <p:cNvSpPr txBox="1"/>
          <p:nvPr>
            <p:ph idx="14" type="subTitle"/>
          </p:nvPr>
        </p:nvSpPr>
        <p:spPr>
          <a:xfrm>
            <a:off x="3579900" y="3086800"/>
            <a:ext cx="1984200" cy="55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6" name="Google Shape;236;p27"/>
          <p:cNvSpPr txBox="1"/>
          <p:nvPr>
            <p:ph idx="15" type="subTitle"/>
          </p:nvPr>
        </p:nvSpPr>
        <p:spPr>
          <a:xfrm>
            <a:off x="6050273" y="3086800"/>
            <a:ext cx="1984200" cy="55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pic>
        <p:nvPicPr>
          <p:cNvPr id="237" name="Google Shape;237;p27"/>
          <p:cNvPicPr preferRelativeResize="0"/>
          <p:nvPr/>
        </p:nvPicPr>
        <p:blipFill rotWithShape="1">
          <a:blip r:embed="rId3">
            <a:alphaModFix/>
          </a:blip>
          <a:srcRect b="0" l="0" r="3232" t="36431"/>
          <a:stretch/>
        </p:blipFill>
        <p:spPr>
          <a:xfrm rot="5400000">
            <a:off x="-1395711" y="2135389"/>
            <a:ext cx="3212974" cy="14067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8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0" name="Google Shape;240;p28"/>
          <p:cNvGrpSpPr/>
          <p:nvPr/>
        </p:nvGrpSpPr>
        <p:grpSpPr>
          <a:xfrm>
            <a:off x="0" y="342350"/>
            <a:ext cx="9144000" cy="4458825"/>
            <a:chOff x="0" y="342350"/>
            <a:chExt cx="9144000" cy="4458825"/>
          </a:xfrm>
        </p:grpSpPr>
        <p:cxnSp>
          <p:nvCxnSpPr>
            <p:cNvPr id="241" name="Google Shape;241;p28"/>
            <p:cNvCxnSpPr/>
            <p:nvPr/>
          </p:nvCxnSpPr>
          <p:spPr>
            <a:xfrm>
              <a:off x="0" y="342350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2" name="Google Shape;242;p28"/>
            <p:cNvCxnSpPr/>
            <p:nvPr/>
          </p:nvCxnSpPr>
          <p:spPr>
            <a:xfrm>
              <a:off x="0" y="4801175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3" name="Google Shape;243;p28"/>
          <p:cNvSpPr txBox="1"/>
          <p:nvPr>
            <p:ph hasCustomPrompt="1" type="title"/>
          </p:nvPr>
        </p:nvSpPr>
        <p:spPr>
          <a:xfrm>
            <a:off x="4840975" y="709575"/>
            <a:ext cx="3589800" cy="646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4" name="Google Shape;244;p28"/>
          <p:cNvSpPr txBox="1"/>
          <p:nvPr>
            <p:ph idx="1" type="subTitle"/>
          </p:nvPr>
        </p:nvSpPr>
        <p:spPr>
          <a:xfrm>
            <a:off x="4841125" y="1356063"/>
            <a:ext cx="3589800" cy="3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p28"/>
          <p:cNvSpPr txBox="1"/>
          <p:nvPr>
            <p:ph hasCustomPrompt="1" idx="2" type="title"/>
          </p:nvPr>
        </p:nvSpPr>
        <p:spPr>
          <a:xfrm>
            <a:off x="4841031" y="2092450"/>
            <a:ext cx="3589800" cy="646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6" name="Google Shape;246;p28"/>
          <p:cNvSpPr txBox="1"/>
          <p:nvPr>
            <p:ph idx="3" type="subTitle"/>
          </p:nvPr>
        </p:nvSpPr>
        <p:spPr>
          <a:xfrm>
            <a:off x="4841125" y="2738950"/>
            <a:ext cx="3589800" cy="3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28"/>
          <p:cNvSpPr txBox="1"/>
          <p:nvPr>
            <p:ph hasCustomPrompt="1" idx="4" type="title"/>
          </p:nvPr>
        </p:nvSpPr>
        <p:spPr>
          <a:xfrm>
            <a:off x="4841031" y="3475325"/>
            <a:ext cx="3589800" cy="646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8" name="Google Shape;248;p28"/>
          <p:cNvSpPr txBox="1"/>
          <p:nvPr>
            <p:ph idx="5" type="subTitle"/>
          </p:nvPr>
        </p:nvSpPr>
        <p:spPr>
          <a:xfrm>
            <a:off x="4841125" y="4121825"/>
            <a:ext cx="3589800" cy="3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9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1" name="Google Shape;251;p29"/>
          <p:cNvGrpSpPr/>
          <p:nvPr/>
        </p:nvGrpSpPr>
        <p:grpSpPr>
          <a:xfrm>
            <a:off x="0" y="342350"/>
            <a:ext cx="9144000" cy="4458825"/>
            <a:chOff x="0" y="342350"/>
            <a:chExt cx="9144000" cy="4458825"/>
          </a:xfrm>
        </p:grpSpPr>
        <p:cxnSp>
          <p:nvCxnSpPr>
            <p:cNvPr id="252" name="Google Shape;252;p29"/>
            <p:cNvCxnSpPr/>
            <p:nvPr/>
          </p:nvCxnSpPr>
          <p:spPr>
            <a:xfrm>
              <a:off x="0" y="342350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3" name="Google Shape;253;p29"/>
            <p:cNvCxnSpPr/>
            <p:nvPr/>
          </p:nvCxnSpPr>
          <p:spPr>
            <a:xfrm>
              <a:off x="0" y="4801175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54" name="Google Shape;254;p29"/>
          <p:cNvSpPr txBox="1"/>
          <p:nvPr>
            <p:ph type="title"/>
          </p:nvPr>
        </p:nvSpPr>
        <p:spPr>
          <a:xfrm>
            <a:off x="713225" y="539500"/>
            <a:ext cx="39297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5" name="Google Shape;255;p29"/>
          <p:cNvSpPr txBox="1"/>
          <p:nvPr>
            <p:ph idx="1" type="subTitle"/>
          </p:nvPr>
        </p:nvSpPr>
        <p:spPr>
          <a:xfrm>
            <a:off x="713225" y="1638550"/>
            <a:ext cx="3929700" cy="11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9"/>
          <p:cNvSpPr txBox="1"/>
          <p:nvPr/>
        </p:nvSpPr>
        <p:spPr>
          <a:xfrm>
            <a:off x="713225" y="3610379"/>
            <a:ext cx="4956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CREDITS: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sz="1200" u="sng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30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9" name="Google Shape;259;p30"/>
          <p:cNvGrpSpPr/>
          <p:nvPr/>
        </p:nvGrpSpPr>
        <p:grpSpPr>
          <a:xfrm>
            <a:off x="0" y="342350"/>
            <a:ext cx="9144000" cy="4458825"/>
            <a:chOff x="0" y="342350"/>
            <a:chExt cx="9144000" cy="4458825"/>
          </a:xfrm>
        </p:grpSpPr>
        <p:cxnSp>
          <p:nvCxnSpPr>
            <p:cNvPr id="260" name="Google Shape;260;p30"/>
            <p:cNvCxnSpPr/>
            <p:nvPr/>
          </p:nvCxnSpPr>
          <p:spPr>
            <a:xfrm>
              <a:off x="0" y="342350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1" name="Google Shape;261;p30"/>
            <p:cNvCxnSpPr/>
            <p:nvPr/>
          </p:nvCxnSpPr>
          <p:spPr>
            <a:xfrm>
              <a:off x="0" y="4801175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262" name="Google Shape;26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9639" y="3998896"/>
            <a:ext cx="3264453" cy="166831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63" name="Google Shape;26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8782560">
            <a:off x="3527374" y="-795385"/>
            <a:ext cx="2784347" cy="18362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64" name="Google Shape;264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4449188">
            <a:off x="-1122787" y="1787690"/>
            <a:ext cx="3027105" cy="183625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65" name="Google Shape;265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7119924">
            <a:off x="7437793" y="1787689"/>
            <a:ext cx="2672834" cy="18362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31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8" name="Google Shape;268;p31"/>
          <p:cNvGrpSpPr/>
          <p:nvPr/>
        </p:nvGrpSpPr>
        <p:grpSpPr>
          <a:xfrm>
            <a:off x="0" y="342350"/>
            <a:ext cx="9144000" cy="4458825"/>
            <a:chOff x="0" y="342350"/>
            <a:chExt cx="9144000" cy="4458825"/>
          </a:xfrm>
        </p:grpSpPr>
        <p:cxnSp>
          <p:nvCxnSpPr>
            <p:cNvPr id="269" name="Google Shape;269;p31"/>
            <p:cNvCxnSpPr/>
            <p:nvPr/>
          </p:nvCxnSpPr>
          <p:spPr>
            <a:xfrm>
              <a:off x="0" y="342350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0" name="Google Shape;270;p31"/>
            <p:cNvCxnSpPr/>
            <p:nvPr/>
          </p:nvCxnSpPr>
          <p:spPr>
            <a:xfrm>
              <a:off x="0" y="4801175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271" name="Google Shape;27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6023658" y="2075741"/>
            <a:ext cx="5461417" cy="99201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72" name="Google Shape;272;p31"/>
          <p:cNvPicPr preferRelativeResize="0"/>
          <p:nvPr/>
        </p:nvPicPr>
        <p:blipFill rotWithShape="1">
          <a:blip r:embed="rId4">
            <a:alphaModFix/>
          </a:blip>
          <a:srcRect b="0" l="0" r="3232" t="36431"/>
          <a:stretch/>
        </p:blipFill>
        <p:spPr>
          <a:xfrm rot="3283847">
            <a:off x="-1810627" y="3503126"/>
            <a:ext cx="4447460" cy="19472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73" name="Google Shape;2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8870179">
            <a:off x="-385212" y="-764975"/>
            <a:ext cx="3178132" cy="20959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4"/>
          <p:cNvSpPr txBox="1"/>
          <p:nvPr>
            <p:ph type="title"/>
          </p:nvPr>
        </p:nvSpPr>
        <p:spPr>
          <a:xfrm>
            <a:off x="716700" y="511025"/>
            <a:ext cx="77106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2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erriweather"/>
              <a:buNone/>
              <a:defRPr b="1" sz="35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erriweather"/>
              <a:buNone/>
              <a:defRPr b="1" sz="35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erriweather"/>
              <a:buNone/>
              <a:defRPr b="1" sz="35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erriweather"/>
              <a:buNone/>
              <a:defRPr b="1" sz="35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erriweather"/>
              <a:buNone/>
              <a:defRPr b="1" sz="35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erriweather"/>
              <a:buNone/>
              <a:defRPr b="1" sz="35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erriweather"/>
              <a:buNone/>
              <a:defRPr b="1" sz="35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erriweather"/>
              <a:buNone/>
              <a:defRPr b="1" sz="35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erriweather"/>
              <a:buNone/>
              <a:defRPr b="1" sz="35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76" name="Google Shape;276;p32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8" r:id="rId1"/>
    <p:sldLayoutId id="2147483679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9.png"/><Relationship Id="rId3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24.png"/><Relationship Id="rId3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9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24.png"/><Relationship Id="rId3" Type="http://schemas.openxmlformats.org/officeDocument/2006/relationships/image" Target="../media/image2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9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24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9.png"/><Relationship Id="rId3" Type="http://schemas.openxmlformats.org/officeDocument/2006/relationships/image" Target="../media/image3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1.png"/><Relationship Id="rId3" Type="http://schemas.openxmlformats.org/officeDocument/2006/relationships/image" Target="../media/image3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9.png"/><Relationship Id="rId3" Type="http://schemas.openxmlformats.org/officeDocument/2006/relationships/image" Target="../media/image3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24.png"/><Relationship Id="rId3" Type="http://schemas.openxmlformats.org/officeDocument/2006/relationships/image" Target="../media/image3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3" Type="http://schemas.openxmlformats.org/officeDocument/2006/relationships/image" Target="../media/image3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9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9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1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9.png"/><Relationship Id="rId3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2513" y="-452124"/>
            <a:ext cx="2471474" cy="1983249"/>
          </a:xfrm>
          <a:prstGeom prst="rect">
            <a:avLst/>
          </a:prstGeom>
        </p:spPr>
      </p:pic>
      <p:pic>
        <p:nvPicPr>
          <p:cNvPr id="3" name="Picture 2" descr="logo-externado-matematic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457200"/>
            <a:ext cx="1677293" cy="5303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1115568"/>
            <a:ext cx="7132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800" b="1">
                <a:solidFill>
                  <a:srgbClr val="242222"/>
                </a:solidFill>
                <a:latin typeface="Merriweather"/>
              </a:defRPr>
            </a:pPr>
            <a:r>
              <a:t>¿Basta con leer la noticia?</a:t>
            </a:r>
          </a:p>
          <a:p>
            <a:pPr algn="ctr">
              <a:defRPr sz="1300">
                <a:solidFill>
                  <a:srgbClr val="666666"/>
                </a:solidFill>
                <a:latin typeface="Merriweather"/>
              </a:defRPr>
            </a:pPr>
            <a:r>
              <a:t>Detección de desinformación con Transformers, patrones lingüísticos,</a:t>
            </a:r>
            <a:br/>
            <a:r>
              <a:t>explicabilidad y los límites del texto aislado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3090672"/>
            <a:ext cx="4572000" cy="18288"/>
          </a:xfrm>
          <a:prstGeom prst="rect">
            <a:avLst/>
          </a:prstGeom>
          <a:solidFill>
            <a:srgbClr val="24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218688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50" b="1">
                <a:solidFill>
                  <a:srgbClr val="242222"/>
                </a:solidFill>
                <a:latin typeface="Merriweather"/>
              </a:defRPr>
            </a:pPr>
            <a:r>
              <a:t>Natali Alba Tobías  •  Daniel Santiago Camacho Gutiérrez</a:t>
            </a:r>
          </a:p>
          <a:p>
            <a:pPr algn="ctr">
              <a:defRPr sz="950">
                <a:solidFill>
                  <a:srgbClr val="666666"/>
                </a:solidFill>
                <a:latin typeface="Lato"/>
              </a:defRPr>
            </a:pPr>
            <a:r>
              <a:t>Directores: Germán Combariza, Ph.D.  &amp;  Alber Montenegro, Ph.D.</a:t>
            </a:r>
            <a:br/>
            <a:r>
              <a:t>Programa de Ciencia de Datos — Universidad Externado de Colombia (2026)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347472"/>
            <a:ext cx="7699248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50" b="1">
                <a:solidFill>
                  <a:srgbClr val="666666"/>
                </a:solidFill>
                <a:latin typeface="Lato"/>
              </a:defRPr>
            </a:pPr>
            <a:r>
              <a:t>CONTENIDO DE LA SUSTENTACIÓN  •  PÁG. 02/26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530352"/>
            <a:ext cx="76992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50" b="1">
                <a:solidFill>
                  <a:srgbClr val="242222"/>
                </a:solidFill>
                <a:latin typeface="Merriweather"/>
              </a:defRPr>
            </a:pPr>
            <a:r>
              <a:t>Estructura Narrativa del Proyecto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9144000" cy="16459"/>
          </a:xfrm>
          <a:prstGeom prst="rect">
            <a:avLst/>
          </a:prstGeom>
          <a:solidFill>
            <a:srgbClr val="24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452" y="3831783"/>
            <a:ext cx="3292721" cy="1682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325880"/>
            <a:ext cx="24688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7A1C1C"/>
                </a:solidFill>
                <a:latin typeface="Merriweather"/>
              </a:rPr>
              <a:t>01. </a:t>
            </a:r>
            <a:r>
              <a:rPr sz="1050" b="1">
                <a:solidFill>
                  <a:srgbClr val="242222"/>
                </a:solidFill>
                <a:latin typeface="Merriweather"/>
              </a:rPr>
              <a:t>Historia de un Caso Real</a:t>
            </a:r>
          </a:p>
          <a:p>
            <a:pPr>
              <a:defRPr sz="850">
                <a:solidFill>
                  <a:srgbClr val="666666"/>
                </a:solidFill>
                <a:latin typeface="Lato"/>
              </a:defRPr>
            </a:pPr>
            <a:r>
              <a:t>Apertura narrativa sobre el impacto de la desinformación.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325880"/>
            <a:ext cx="24688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242222"/>
                </a:solidFill>
                <a:latin typeface="Merriweather"/>
              </a:rPr>
              <a:t>02. </a:t>
            </a:r>
            <a:r>
              <a:rPr sz="1050" b="1">
                <a:solidFill>
                  <a:srgbClr val="242222"/>
                </a:solidFill>
                <a:latin typeface="Merriweather"/>
              </a:rPr>
              <a:t>Contexto y Desórdenes</a:t>
            </a:r>
          </a:p>
          <a:p>
            <a:pPr>
              <a:defRPr sz="850">
                <a:solidFill>
                  <a:srgbClr val="666666"/>
                </a:solidFill>
                <a:latin typeface="Lato"/>
              </a:defRPr>
            </a:pPr>
            <a:r>
              <a:t>Tipología de bulos y enfoques de detección en PLN.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325880"/>
            <a:ext cx="24688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7A1C1C"/>
                </a:solidFill>
                <a:latin typeface="Merriweather"/>
              </a:rPr>
              <a:t>03. </a:t>
            </a:r>
            <a:r>
              <a:rPr sz="1050" b="1">
                <a:solidFill>
                  <a:srgbClr val="242222"/>
                </a:solidFill>
                <a:latin typeface="Merriweather"/>
              </a:rPr>
              <a:t>Problema de NLP y XAI</a:t>
            </a:r>
          </a:p>
          <a:p>
            <a:pPr>
              <a:defRPr sz="850">
                <a:solidFill>
                  <a:srgbClr val="666666"/>
                </a:solidFill>
                <a:latin typeface="Lato"/>
              </a:defRPr>
            </a:pPr>
            <a:r>
              <a:t>Shortcut learning, Domain Shift y fallas de XAI post-hoc.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04872"/>
            <a:ext cx="24688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242222"/>
                </a:solidFill>
                <a:latin typeface="Merriweather"/>
              </a:rPr>
              <a:t>04. </a:t>
            </a:r>
            <a:r>
              <a:rPr sz="1050" b="1">
                <a:solidFill>
                  <a:srgbClr val="242222"/>
                </a:solidFill>
                <a:latin typeface="Merriweather"/>
              </a:rPr>
              <a:t>Pregunta de Investigación</a:t>
            </a:r>
          </a:p>
          <a:p>
            <a:pPr>
              <a:defRPr sz="850">
                <a:solidFill>
                  <a:srgbClr val="666666"/>
                </a:solidFill>
                <a:latin typeface="Lato"/>
              </a:defRPr>
            </a:pPr>
            <a:r>
              <a:t>Interrogante central e hipótesis estilométrica.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404872"/>
            <a:ext cx="24688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242222"/>
                </a:solidFill>
                <a:latin typeface="Merriweather"/>
              </a:rPr>
              <a:t>05. </a:t>
            </a:r>
            <a:r>
              <a:rPr sz="1050" b="1">
                <a:solidFill>
                  <a:srgbClr val="242222"/>
                </a:solidFill>
                <a:latin typeface="Merriweather"/>
              </a:rPr>
              <a:t>Objetivos del Proyecto</a:t>
            </a:r>
          </a:p>
          <a:p>
            <a:pPr>
              <a:defRPr sz="850">
                <a:solidFill>
                  <a:srgbClr val="666666"/>
                </a:solidFill>
                <a:latin typeface="Lato"/>
              </a:defRPr>
            </a:pPr>
            <a:r>
              <a:t>Propósito general y 5 hitos experimentales.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404872"/>
            <a:ext cx="24688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242222"/>
                </a:solidFill>
                <a:latin typeface="Merriweather"/>
              </a:rPr>
              <a:t>06. </a:t>
            </a:r>
            <a:r>
              <a:rPr sz="1050" b="1">
                <a:solidFill>
                  <a:srgbClr val="242222"/>
                </a:solidFill>
                <a:latin typeface="Merriweather"/>
              </a:rPr>
              <a:t>Metodología y Corpus</a:t>
            </a:r>
          </a:p>
          <a:p>
            <a:pPr>
              <a:defRPr sz="850">
                <a:solidFill>
                  <a:srgbClr val="666666"/>
                </a:solidFill>
                <a:latin typeface="Lato"/>
              </a:defRPr>
            </a:pPr>
            <a:r>
              <a:t>4 fases, Corpus Base (2.604) y Ampliado (4.418).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83863"/>
            <a:ext cx="24688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7A1C1C"/>
                </a:solidFill>
                <a:latin typeface="Merriweather"/>
              </a:rPr>
              <a:t>07. </a:t>
            </a:r>
            <a:r>
              <a:rPr sz="1050" b="1">
                <a:solidFill>
                  <a:srgbClr val="242222"/>
                </a:solidFill>
                <a:latin typeface="Merriweather"/>
              </a:rPr>
              <a:t>Solución y Tratamiento</a:t>
            </a:r>
          </a:p>
          <a:p>
            <a:pPr>
              <a:defRPr sz="850">
                <a:solidFill>
                  <a:srgbClr val="666666"/>
                </a:solidFill>
                <a:latin typeface="Lato"/>
              </a:defRPr>
            </a:pPr>
            <a:r>
              <a:t>Estilometría (2.3), BETO, SBERT, MexGen e Índice IML.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3483863"/>
            <a:ext cx="24688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7A1C1C"/>
                </a:solidFill>
                <a:latin typeface="Merriweather"/>
              </a:rPr>
              <a:t>08. </a:t>
            </a:r>
            <a:r>
              <a:rPr sz="1050" b="1">
                <a:solidFill>
                  <a:srgbClr val="242222"/>
                </a:solidFill>
                <a:latin typeface="Merriweather"/>
              </a:rPr>
              <a:t>Resultado Final</a:t>
            </a:r>
          </a:p>
          <a:p>
            <a:pPr>
              <a:defRPr sz="850">
                <a:solidFill>
                  <a:srgbClr val="666666"/>
                </a:solidFill>
                <a:latin typeface="Lato"/>
              </a:defRPr>
            </a:pPr>
            <a:r>
              <a:t>Auditoría forense de 4 noticias y Ensamble 5D (42 vars).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483863"/>
            <a:ext cx="24688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242222"/>
                </a:solidFill>
                <a:latin typeface="Merriweather"/>
              </a:rPr>
              <a:t>09. </a:t>
            </a:r>
            <a:r>
              <a:rPr sz="1050" b="1">
                <a:solidFill>
                  <a:srgbClr val="242222"/>
                </a:solidFill>
                <a:latin typeface="Merriweather"/>
              </a:rPr>
              <a:t>Conclusiones y Cascada</a:t>
            </a:r>
          </a:p>
          <a:p>
            <a:pPr>
              <a:defRPr sz="850">
                <a:solidFill>
                  <a:srgbClr val="666666"/>
                </a:solidFill>
                <a:latin typeface="Lato"/>
              </a:defRPr>
            </a:pPr>
            <a:r>
              <a:t>Límites del texto aislado y arquitectura híbrida + RAG.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347472"/>
            <a:ext cx="7699248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50" b="1">
                <a:solidFill>
                  <a:srgbClr val="666666"/>
                </a:solidFill>
                <a:latin typeface="Lato"/>
              </a:defRPr>
            </a:pPr>
            <a:r>
              <a:t>01. INTRODUCCIÓN Y MOTIVACIÓN  •  PÁG. 03/26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530352"/>
            <a:ext cx="76992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50" b="1">
                <a:solidFill>
                  <a:srgbClr val="242222"/>
                </a:solidFill>
                <a:latin typeface="Merriweather"/>
              </a:defRPr>
            </a:pPr>
            <a:r>
              <a:t>1. Historia de un Caso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9144000" cy="16459"/>
          </a:xfrm>
          <a:prstGeom prst="rect">
            <a:avLst/>
          </a:prstGeom>
          <a:solidFill>
            <a:srgbClr val="24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1508760"/>
            <a:ext cx="6309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1">
                <a:solidFill>
                  <a:srgbClr val="242222"/>
                </a:solidFill>
                <a:latin typeface="Merriweather"/>
              </a:defRPr>
            </a:pPr>
            <a:r>
              <a:t>«Una noticia falsa viraliza en minutos;</a:t>
            </a:r>
            <a:br/>
            <a:r>
              <a:t>la verificación humana tarda días en llegar.»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2788920"/>
            <a:ext cx="3291840" cy="18288"/>
          </a:xfrm>
          <a:prstGeom prst="rect">
            <a:avLst/>
          </a:prstGeom>
          <a:solidFill>
            <a:srgbClr val="24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23774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7A1C1C"/>
                </a:solidFill>
                <a:latin typeface="Merriweather"/>
              </a:defRPr>
            </a:pPr>
            <a:r>
              <a:t>El Caso Real</a:t>
            </a:r>
          </a:p>
          <a:p>
            <a:pPr>
              <a:spcAft>
                <a:spcPts val="600"/>
              </a:spcAft>
              <a:defRPr sz="900">
                <a:solidFill>
                  <a:srgbClr val="242222"/>
                </a:solidFill>
                <a:latin typeface="Lato"/>
              </a:defRPr>
            </a:pPr>
            <a:r>
              <a:t>▪ Impacto directo de la desinformación médica y sanitaria en la toma de decisiones ciudadanas.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2971800"/>
            <a:ext cx="23774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2222"/>
                </a:solidFill>
                <a:latin typeface="Merriweather"/>
              </a:defRPr>
            </a:pPr>
            <a:r>
              <a:t>La Asimetría</a:t>
            </a:r>
          </a:p>
          <a:p>
            <a:pPr>
              <a:spcAft>
                <a:spcPts val="600"/>
              </a:spcAft>
              <a:defRPr sz="900">
                <a:solidFill>
                  <a:srgbClr val="242222"/>
                </a:solidFill>
                <a:latin typeface="Lato"/>
              </a:defRPr>
            </a:pPr>
            <a:r>
              <a:t>▪ Velocidad de propagación digital frente al cuello de botella del fact-checking manual.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971800"/>
            <a:ext cx="23774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2222"/>
                </a:solidFill>
                <a:latin typeface="Merriweather"/>
              </a:defRPr>
            </a:pPr>
            <a:r>
              <a:t>El Reto Científico</a:t>
            </a:r>
          </a:p>
          <a:p>
            <a:pPr>
              <a:spcAft>
                <a:spcPts val="600"/>
              </a:spcAft>
              <a:defRPr sz="900">
                <a:solidFill>
                  <a:srgbClr val="242222"/>
                </a:solidFill>
                <a:latin typeface="Lato"/>
              </a:defRPr>
            </a:pPr>
            <a:r>
              <a:t>▪ ¿Qué huellas deja la manipulación dentro del texto antes de verificar los hechos externos?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347472"/>
            <a:ext cx="7699248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50" b="1">
                <a:solidFill>
                  <a:srgbClr val="666666"/>
                </a:solidFill>
                <a:latin typeface="Lato"/>
              </a:defRPr>
            </a:pPr>
            <a:r>
              <a:t>02. CONTEXTO  |  SECCIÓN 2.1.1  •  PÁG. 04/26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530352"/>
            <a:ext cx="76992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50" b="1">
                <a:solidFill>
                  <a:srgbClr val="242222"/>
                </a:solidFill>
                <a:latin typeface="Merriweather"/>
              </a:defRPr>
            </a:pPr>
            <a:r>
              <a:t>Desórdenes Informativos y Tipología del Engaño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9144000" cy="16459"/>
          </a:xfrm>
          <a:prstGeom prst="rect">
            <a:avLst/>
          </a:prstGeom>
          <a:solidFill>
            <a:srgbClr val="24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8014" y="-85400"/>
            <a:ext cx="3178132" cy="2095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376" y="1298448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2222"/>
                </a:solidFill>
                <a:latin typeface="Merriweather"/>
              </a:defRPr>
            </a:pPr>
            <a:r>
              <a:t>1. Tres Desórdenes (Wardle, 2017)</a:t>
            </a:r>
          </a:p>
          <a:p>
            <a:pPr>
              <a:spcAft>
                <a:spcPts val="600"/>
              </a:spcAft>
            </a:pPr>
            <a:r>
              <a:rPr sz="919" b="1">
                <a:solidFill>
                  <a:srgbClr val="242222"/>
                </a:solidFill>
                <a:latin typeface="Lato"/>
              </a:rPr>
              <a:t>▪ Desinformación (Disinformation): </a:t>
            </a:r>
            <a:r>
              <a:rPr sz="919">
                <a:solidFill>
                  <a:srgbClr val="242222"/>
                </a:solidFill>
                <a:latin typeface="Lato"/>
              </a:rPr>
              <a:t>Falso + intención deliberada de engañar o dañar [Objeto de la Tesis].</a:t>
            </a:r>
          </a:p>
          <a:p>
            <a:pPr>
              <a:spcAft>
                <a:spcPts val="600"/>
              </a:spcAft>
            </a:pPr>
            <a:r>
              <a:rPr sz="919" b="1">
                <a:solidFill>
                  <a:srgbClr val="242222"/>
                </a:solidFill>
                <a:latin typeface="Lato"/>
              </a:rPr>
              <a:t>▪ Información Errónea (Misinformation): </a:t>
            </a:r>
            <a:r>
              <a:rPr sz="919">
                <a:solidFill>
                  <a:srgbClr val="242222"/>
                </a:solidFill>
                <a:latin typeface="Lato"/>
              </a:rPr>
              <a:t>Contenido falso compartido sin intención lesiva (error o sesgo).</a:t>
            </a:r>
          </a:p>
          <a:p>
            <a:pPr>
              <a:spcAft>
                <a:spcPts val="600"/>
              </a:spcAft>
            </a:pPr>
            <a:r>
              <a:rPr sz="919" b="1">
                <a:solidFill>
                  <a:srgbClr val="242222"/>
                </a:solidFill>
                <a:latin typeface="Lato"/>
              </a:rPr>
              <a:t>▪ Información Maliciosa (Malinformation): </a:t>
            </a:r>
            <a:r>
              <a:rPr sz="919">
                <a:solidFill>
                  <a:srgbClr val="242222"/>
                </a:solidFill>
                <a:latin typeface="Lato"/>
              </a:rPr>
              <a:t>Hecho real filtrado o sacado de contexto para dañar.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90288" y="1298448"/>
            <a:ext cx="10972" cy="32004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298448"/>
            <a:ext cx="37033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7A1C1C"/>
                </a:solidFill>
                <a:latin typeface="Merriweather"/>
              </a:defRPr>
            </a:pPr>
            <a:r>
              <a:t>2. Tipología de Bulos en Español (Salaverría, 2020)</a:t>
            </a:r>
          </a:p>
          <a:p>
            <a:pPr>
              <a:spcAft>
                <a:spcPts val="600"/>
              </a:spcAft>
            </a:pPr>
            <a:r>
              <a:rPr sz="919" b="1">
                <a:solidFill>
                  <a:srgbClr val="242222"/>
                </a:solidFill>
                <a:latin typeface="Lato"/>
              </a:rPr>
              <a:t>▪ Engaño Puro (&gt; 60% de alertas): </a:t>
            </a:r>
            <a:r>
              <a:rPr sz="919">
                <a:solidFill>
                  <a:srgbClr val="242222"/>
                </a:solidFill>
                <a:latin typeface="Lato"/>
              </a:rPr>
              <a:t>Invención total de hechos o citas → Hiper-redundancia (D4) y sintaxis.</a:t>
            </a:r>
          </a:p>
          <a:p>
            <a:pPr>
              <a:spcAft>
                <a:spcPts val="600"/>
              </a:spcAft>
            </a:pPr>
            <a:r>
              <a:rPr sz="919" b="1">
                <a:solidFill>
                  <a:srgbClr val="242222"/>
                </a:solidFill>
                <a:latin typeface="Lato"/>
              </a:rPr>
              <a:t>▪ Exageración Dramática (~ 17%): </a:t>
            </a:r>
            <a:r>
              <a:rPr sz="919">
                <a:solidFill>
                  <a:srgbClr val="242222"/>
                </a:solidFill>
                <a:latin typeface="Lato"/>
              </a:rPr>
              <a:t>Base mínima inflada con catastrofismo → Carga emocional (D1) y Gatillo (D2).</a:t>
            </a:r>
          </a:p>
          <a:p>
            <a:pPr>
              <a:spcAft>
                <a:spcPts val="600"/>
              </a:spcAft>
            </a:pPr>
            <a:r>
              <a:rPr sz="919" b="1">
                <a:solidFill>
                  <a:srgbClr val="242222"/>
                </a:solidFill>
                <a:latin typeface="Lato"/>
              </a:rPr>
              <a:t>▪ Descontextualización (~ 17%): </a:t>
            </a:r>
            <a:r>
              <a:rPr sz="919">
                <a:solidFill>
                  <a:srgbClr val="242222"/>
                </a:solidFill>
                <a:latin typeface="Lato"/>
              </a:rPr>
              <a:t>Hecho pasado recirculado como actual → Baja amortiguación (D3) y cohesión (D5).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347472"/>
            <a:ext cx="7699248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50" b="1">
                <a:solidFill>
                  <a:srgbClr val="666666"/>
                </a:solidFill>
                <a:latin typeface="Lato"/>
              </a:defRPr>
            </a:pPr>
            <a:r>
              <a:t>02. CONTEXTO  |  SECCIÓN 2.1.2  •  PÁG. 05/26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530352"/>
            <a:ext cx="76992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50" b="1">
                <a:solidFill>
                  <a:srgbClr val="242222"/>
                </a:solidFill>
                <a:latin typeface="Merriweather"/>
              </a:defRPr>
            </a:pPr>
            <a:r>
              <a:t>Enfoques Tradicionales de Detección Automática (DANF)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9144000" cy="16459"/>
          </a:xfrm>
          <a:prstGeom prst="rect">
            <a:avLst/>
          </a:prstGeom>
          <a:solidFill>
            <a:srgbClr val="24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0800" y="-85400"/>
            <a:ext cx="2078039" cy="2095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376" y="1298448"/>
            <a:ext cx="3154680" cy="3246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2222"/>
                </a:solidFill>
                <a:latin typeface="Merriweather"/>
              </a:defRPr>
            </a:pPr>
            <a:r>
              <a:t>¿Por qué priorizar Estilo y Contenido?</a:t>
            </a:r>
          </a:p>
          <a:p>
            <a:pPr>
              <a:spcAft>
                <a:spcPts val="600"/>
              </a:spcAft>
            </a:pPr>
            <a:r>
              <a:rPr sz="919" b="1">
                <a:solidFill>
                  <a:srgbClr val="242222"/>
                </a:solidFill>
                <a:latin typeface="Lato"/>
              </a:rPr>
              <a:t>▪ Arranque en frío (Cold Start): </a:t>
            </a:r>
            <a:r>
              <a:rPr sz="919">
                <a:solidFill>
                  <a:srgbClr val="242222"/>
                </a:solidFill>
                <a:latin typeface="Lato"/>
              </a:rPr>
              <a:t>Analiza titular y cuerpo al instante sin esperar cascadas en redes.</a:t>
            </a:r>
          </a:p>
          <a:p>
            <a:pPr>
              <a:spcAft>
                <a:spcPts val="600"/>
              </a:spcAft>
            </a:pPr>
            <a:r>
              <a:rPr sz="919" b="1">
                <a:solidFill>
                  <a:srgbClr val="242222"/>
                </a:solidFill>
                <a:latin typeface="Lato"/>
              </a:rPr>
              <a:t>▪ Sin APIs cerradas: </a:t>
            </a:r>
            <a:r>
              <a:rPr sz="919">
                <a:solidFill>
                  <a:srgbClr val="242222"/>
                </a:solidFill>
                <a:latin typeface="Lato"/>
              </a:rPr>
              <a:t>No depende de grafos desactualizados ni metadatos de usuario.</a:t>
            </a:r>
          </a:p>
          <a:p>
            <a:pPr>
              <a:spcAft>
                <a:spcPts val="600"/>
              </a:spcAft>
            </a:pPr>
            <a:r>
              <a:rPr sz="919" b="1">
                <a:solidFill>
                  <a:srgbClr val="242222"/>
                </a:solidFill>
                <a:latin typeface="Lato"/>
              </a:rPr>
              <a:t>▪ Tamiz auditable: </a:t>
            </a:r>
            <a:r>
              <a:rPr sz="919">
                <a:solidFill>
                  <a:srgbClr val="242222"/>
                </a:solidFill>
                <a:latin typeface="Lato"/>
              </a:rPr>
              <a:t>Detecta señales retóricas de manipulación para guiar al verificador humano.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005072" y="1371600"/>
          <a:ext cx="530352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417320"/>
                <a:gridCol w="1234440"/>
                <a:gridCol w="1508760"/>
              </a:tblGrid>
              <a:tr h="566928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erriweather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24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erriweather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24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erriweather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24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erriweather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24222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E8E6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E8E6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E8E6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E8E6E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E8E6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E8E6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E8E6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E8E6E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347472"/>
            <a:ext cx="7699248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50" b="1">
                <a:solidFill>
                  <a:srgbClr val="666666"/>
                </a:solidFill>
                <a:latin typeface="Lato"/>
              </a:defRPr>
            </a:pPr>
            <a:r>
              <a:t>03. PROBLEMA DE NLP Y XAI  |  SECCIÓN 5.1.1  •  PÁG. 06/26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530352"/>
            <a:ext cx="76992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50" b="1">
                <a:solidFill>
                  <a:srgbClr val="242222"/>
                </a:solidFill>
                <a:latin typeface="Merriweather"/>
              </a:defRPr>
            </a:pPr>
            <a:r>
              <a:t>Límites del PLN: Shortcut Learning en el Corpus Base (N = 2.604)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9144000" cy="16459"/>
          </a:xfrm>
          <a:prstGeom prst="rect">
            <a:avLst/>
          </a:prstGeom>
          <a:solidFill>
            <a:srgbClr val="24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8402" y="3449200"/>
            <a:ext cx="2698102" cy="17793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376" y="1261872"/>
            <a:ext cx="3520440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2222"/>
                </a:solidFill>
                <a:latin typeface="Merriweather"/>
              </a:defRPr>
            </a:pPr>
            <a:r>
              <a:t>Puntos Clave del Benchmark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242222"/>
                </a:solidFill>
                <a:latin typeface="Lato"/>
              </a:rPr>
              <a:t>▪ Ilusión de alta precisión: </a:t>
            </a:r>
            <a:r>
              <a:rPr sz="900">
                <a:solidFill>
                  <a:srgbClr val="242222"/>
                </a:solidFill>
                <a:latin typeface="Lato"/>
              </a:rPr>
              <a:t>SaBERT lidera en su dominio (Acc = 85,71%, ROC-AUC = 0,9362, 238 ms).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242222"/>
                </a:solidFill>
                <a:latin typeface="Lato"/>
              </a:rPr>
              <a:t>▪ Fallo de LLM Zero-Shot: </a:t>
            </a:r>
            <a:r>
              <a:rPr sz="900">
                <a:solidFill>
                  <a:srgbClr val="242222"/>
                </a:solidFill>
                <a:latin typeface="Lato"/>
              </a:rPr>
              <a:t>Qwen 2.5-1.5B cae por debajo del azar (Acc = 45,74%, ROC-AUC = 0,4382).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242222"/>
                </a:solidFill>
                <a:latin typeface="Lato"/>
              </a:rPr>
              <a:t>▪ Shortcut Learning (Atajos): </a:t>
            </a:r>
            <a:r>
              <a:rPr sz="900">
                <a:solidFill>
                  <a:srgbClr val="242222"/>
                </a:solidFill>
                <a:latin typeface="Lato"/>
              </a:rPr>
              <a:t>Los Transformers memorizan nombres de políticos, partidos y lugares en vez de evaluar la estructura del engaño.</a:t>
            </a:r>
          </a:p>
        </p:txBody>
      </p:sp>
      <p:pic>
        <p:nvPicPr>
          <p:cNvPr id="7" name="Picture 6" descr="comparativa_metricas_4_model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261872"/>
            <a:ext cx="4069080" cy="30632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389120" y="1261872"/>
            <a:ext cx="4069080" cy="3063240"/>
          </a:xfrm>
          <a:prstGeom prst="rect">
            <a:avLst/>
          </a:prstGeom>
          <a:noFill/>
          <a:ln w="9525">
            <a:solidFill>
              <a:srgbClr val="24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4352544"/>
            <a:ext cx="4069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50" i="1">
                <a:solidFill>
                  <a:srgbClr val="666666"/>
                </a:solidFill>
                <a:latin typeface="Lato"/>
              </a:defRPr>
            </a:pPr>
            <a:r>
              <a:t>Comparativa de Exactitud, Precisión, Recall, F1 y ROC-AUC en los 4 modelos (N = 2.604).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347472"/>
            <a:ext cx="7699248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50" b="1">
                <a:solidFill>
                  <a:srgbClr val="666666"/>
                </a:solidFill>
                <a:latin typeface="Lato"/>
              </a:defRPr>
            </a:pPr>
            <a:r>
              <a:t>03. PROBLEMA DE NLP Y XAI  |  SECCIÓN 5.1.2  •  PÁG. 07/26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530352"/>
            <a:ext cx="76992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50" b="1">
                <a:solidFill>
                  <a:srgbClr val="242222"/>
                </a:solidFill>
                <a:latin typeface="Merriweather"/>
              </a:defRPr>
            </a:pPr>
            <a:r>
              <a:t>Colapso por Domain Shift de SaBERT en América Latina (N = 4.418)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9144000" cy="16459"/>
          </a:xfrm>
          <a:prstGeom prst="rect">
            <a:avLst/>
          </a:prstGeom>
          <a:solidFill>
            <a:srgbClr val="24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4097" y="-46312"/>
            <a:ext cx="2815004" cy="14386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376" y="1261872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7A1C1C"/>
                </a:solidFill>
                <a:latin typeface="Merriweather"/>
              </a:defRPr>
            </a:pPr>
            <a:r>
              <a:t>80,0% → 31,3%</a:t>
            </a:r>
          </a:p>
          <a:p>
            <a:pPr>
              <a:defRPr sz="850" b="1">
                <a:solidFill>
                  <a:srgbClr val="666666"/>
                </a:solidFill>
                <a:latin typeface="Lato"/>
              </a:defRPr>
            </a:pPr>
            <a:r>
              <a:t>Caída de Recall Fake (-48,7 pp)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261872"/>
            <a:ext cx="16916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242222"/>
                </a:solidFill>
                <a:latin typeface="Merriweather"/>
              </a:defRPr>
            </a:pPr>
            <a:r>
              <a:t>630 / 917</a:t>
            </a:r>
          </a:p>
          <a:p>
            <a:pPr>
              <a:defRPr sz="850" b="1">
                <a:solidFill>
                  <a:srgbClr val="666666"/>
                </a:solidFill>
                <a:latin typeface="Lato"/>
              </a:defRPr>
            </a:pPr>
            <a:r>
              <a:t>Bulos omitidos en LatAm (68,7%)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103120"/>
            <a:ext cx="3520440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2222"/>
                </a:solidFill>
                <a:latin typeface="Merriweather"/>
              </a:defRPr>
            </a:pPr>
            <a:r>
              <a:t>El Sesgo de Sobriedad (Sobriety Bias)</a:t>
            </a:r>
          </a:p>
          <a:p>
            <a:pPr>
              <a:spcAft>
                <a:spcPts val="600"/>
              </a:spcAft>
            </a:pPr>
            <a:r>
              <a:rPr sz="880" b="1">
                <a:solidFill>
                  <a:srgbClr val="242222"/>
                </a:solidFill>
                <a:latin typeface="Lato"/>
              </a:rPr>
              <a:t>▪ Caída de Exactitud (-23,83 pp): </a:t>
            </a:r>
            <a:r>
              <a:rPr sz="880">
                <a:solidFill>
                  <a:srgbClr val="242222"/>
                </a:solidFill>
                <a:latin typeface="Lato"/>
              </a:rPr>
              <a:t>Pasa de 89,72% en España a 65,89% en América Latina (ROC-AUC cae de 0,9536 a 0,6800).</a:t>
            </a:r>
          </a:p>
          <a:p>
            <a:pPr>
              <a:spcAft>
                <a:spcPts val="600"/>
              </a:spcAft>
            </a:pPr>
            <a:r>
              <a:rPr sz="880" b="1">
                <a:solidFill>
                  <a:srgbClr val="242222"/>
                </a:solidFill>
                <a:latin typeface="Lato"/>
              </a:rPr>
              <a:t>▪ Dependencia geográfica: </a:t>
            </a:r>
            <a:r>
              <a:rPr sz="880">
                <a:solidFill>
                  <a:srgbClr val="242222"/>
                </a:solidFill>
                <a:latin typeface="Lato"/>
              </a:rPr>
              <a:t>Al no encontrar actores políticos españoles, SaBERT pierde sus atajos léxicos.</a:t>
            </a:r>
          </a:p>
          <a:p>
            <a:pPr>
              <a:spcAft>
                <a:spcPts val="600"/>
              </a:spcAft>
            </a:pPr>
            <a:r>
              <a:rPr sz="880" b="1">
                <a:solidFill>
                  <a:srgbClr val="242222"/>
                </a:solidFill>
                <a:latin typeface="Lato"/>
              </a:rPr>
              <a:t>▪ Ceguera ante tono formal: </a:t>
            </a:r>
            <a:r>
              <a:rPr sz="880">
                <a:solidFill>
                  <a:srgbClr val="242222"/>
                </a:solidFill>
                <a:latin typeface="Lato"/>
              </a:rPr>
              <a:t>Clasifica como verdadera cualquier nota falsa latinoamericana escrita con tono institucional.</a:t>
            </a:r>
          </a:p>
        </p:txBody>
      </p:sp>
      <p:pic>
        <p:nvPicPr>
          <p:cNvPr id="9" name="Picture 8" descr="2_metricas_sabert_espana_vs_lat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234440"/>
            <a:ext cx="4069080" cy="157276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389120" y="1234440"/>
            <a:ext cx="4069080" cy="1572768"/>
          </a:xfrm>
          <a:prstGeom prst="rect">
            <a:avLst/>
          </a:prstGeom>
          <a:noFill/>
          <a:ln w="9525">
            <a:solidFill>
              <a:srgbClr val="24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834639"/>
            <a:ext cx="4069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50" i="1">
                <a:solidFill>
                  <a:srgbClr val="666666"/>
                </a:solidFill>
                <a:latin typeface="Lato"/>
              </a:defRPr>
            </a:pPr>
            <a:r>
              <a:t>Desplome de métricas: España vs. América Latina.</a:t>
            </a:r>
          </a:p>
        </p:txBody>
      </p:sp>
      <p:pic>
        <p:nvPicPr>
          <p:cNvPr id="12" name="Picture 11" descr="6_colapso_domain_shift_falsos_negativos_lat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2999232"/>
            <a:ext cx="4069080" cy="15087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389120" y="2999232"/>
            <a:ext cx="4069080" cy="1508760"/>
          </a:xfrm>
          <a:prstGeom prst="rect">
            <a:avLst/>
          </a:prstGeom>
          <a:noFill/>
          <a:ln w="9525">
            <a:solidFill>
              <a:srgbClr val="24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4535424"/>
            <a:ext cx="4069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50" i="1">
                <a:solidFill>
                  <a:srgbClr val="666666"/>
                </a:solidFill>
                <a:latin typeface="Lato"/>
              </a:defRPr>
            </a:pPr>
            <a:r>
              <a:t>Inundación de Falsos Negativos en Latinoamérica (68,7% omisión).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347472"/>
            <a:ext cx="7699248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50" b="1">
                <a:solidFill>
                  <a:srgbClr val="666666"/>
                </a:solidFill>
                <a:latin typeface="Lato"/>
              </a:defRPr>
            </a:pPr>
            <a:r>
              <a:t>03. PROBLEMA DE NLP Y XAI  |  SECCIÓN 5.2.1 Y 5.2.2  •  PÁG. 08/26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530352"/>
            <a:ext cx="76992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50" b="1">
                <a:solidFill>
                  <a:srgbClr val="242222"/>
                </a:solidFill>
                <a:latin typeface="Merriweather"/>
              </a:defRPr>
            </a:pPr>
            <a:r>
              <a:t>Auditoría de 7 Métodos XAI Tradicionales: ERASER y Sanity Checks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9144000" cy="16459"/>
          </a:xfrm>
          <a:prstGeom prst="rect">
            <a:avLst/>
          </a:prstGeom>
          <a:solidFill>
            <a:srgbClr val="24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0800" y="-85400"/>
            <a:ext cx="2078039" cy="2095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376" y="1261872"/>
            <a:ext cx="3474720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2222"/>
                </a:solidFill>
                <a:latin typeface="Merriweather"/>
              </a:defRPr>
            </a:pPr>
            <a:r>
              <a:t>Hallazgos en Pruebas de Ablación</a:t>
            </a:r>
          </a:p>
          <a:p>
            <a:pPr>
              <a:spcAft>
                <a:spcPts val="600"/>
              </a:spcAft>
            </a:pPr>
            <a:r>
              <a:rPr sz="860" b="1">
                <a:solidFill>
                  <a:srgbClr val="242222"/>
                </a:solidFill>
                <a:latin typeface="Lato"/>
              </a:rPr>
              <a:t>▪ Incompatibilidad de LRP: </a:t>
            </a:r>
            <a:r>
              <a:rPr sz="860">
                <a:solidFill>
                  <a:srgbClr val="242222"/>
                </a:solidFill>
                <a:latin typeface="Lato"/>
              </a:rPr>
              <a:t>El mean-pooling y la no linealidad del coseno en SBERT rompen la conservación aditiva de LRP.</a:t>
            </a:r>
          </a:p>
          <a:p>
            <a:pPr>
              <a:spcAft>
                <a:spcPts val="600"/>
              </a:spcAft>
            </a:pPr>
            <a:r>
              <a:rPr sz="860" b="1">
                <a:solidFill>
                  <a:srgbClr val="242222"/>
                </a:solidFill>
                <a:latin typeface="Lato"/>
              </a:rPr>
              <a:t>▪ Gradientes lideran en fidelidad: </a:t>
            </a:r>
            <a:r>
              <a:rPr sz="860">
                <a:solidFill>
                  <a:srgbClr val="242222"/>
                </a:solidFill>
                <a:latin typeface="Lato"/>
              </a:rPr>
              <a:t>Fast-IG (Comp +0,187) e IxG (+0,174, 15,6 ms) superan el Sanity Check de Adebayo (ρ = 0,0364).</a:t>
            </a:r>
          </a:p>
          <a:p>
            <a:pPr>
              <a:spcAft>
                <a:spcPts val="600"/>
              </a:spcAft>
            </a:pPr>
            <a:r>
              <a:rPr sz="860" b="1">
                <a:solidFill>
                  <a:srgbClr val="242222"/>
                </a:solidFill>
                <a:latin typeface="Lato"/>
              </a:rPr>
              <a:t>▪ Inviabilidad de LIME y SHAP: </a:t>
            </a:r>
            <a:r>
              <a:rPr sz="860">
                <a:solidFill>
                  <a:srgbClr val="242222"/>
                </a:solidFill>
                <a:latin typeface="Lato"/>
              </a:rPr>
              <a:t>Tardan 1.524 ms y 1.780 ms por par y generan frases agramaticales (OOD).</a:t>
            </a:r>
          </a:p>
          <a:p>
            <a:pPr>
              <a:spcAft>
                <a:spcPts val="600"/>
              </a:spcAft>
            </a:pPr>
            <a:r>
              <a:rPr sz="860" b="1">
                <a:solidFill>
                  <a:srgbClr val="242222"/>
                </a:solidFill>
                <a:latin typeface="Lato"/>
              </a:rPr>
              <a:t>▪ Falsedad de la Atención: </a:t>
            </a:r>
            <a:r>
              <a:rPr sz="860">
                <a:solidFill>
                  <a:srgbClr val="242222"/>
                </a:solidFill>
                <a:latin typeface="Lato"/>
              </a:rPr>
              <a:t>Attention Centrality queda penúltima (+0,098): atención ≠ explicación causal.</a:t>
            </a:r>
          </a:p>
        </p:txBody>
      </p:sp>
      <p:pic>
        <p:nvPicPr>
          <p:cNvPr id="7" name="Picture 6" descr="xai_faithfulness_comprehensiveness_suffici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234440"/>
            <a:ext cx="4114800" cy="157276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343400" y="1234440"/>
            <a:ext cx="4114800" cy="1572768"/>
          </a:xfrm>
          <a:prstGeom prst="rect">
            <a:avLst/>
          </a:prstGeom>
          <a:noFill/>
          <a:ln w="9525">
            <a:solidFill>
              <a:srgbClr val="24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2834639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50" i="1">
                <a:solidFill>
                  <a:srgbClr val="666666"/>
                </a:solidFill>
                <a:latin typeface="Lato"/>
              </a:defRPr>
            </a:pPr>
            <a:r>
              <a:t>Benchmark ERASER: Comprensividad vs. Suficiencia (20% oclusión).</a:t>
            </a:r>
          </a:p>
        </p:txBody>
      </p:sp>
      <p:pic>
        <p:nvPicPr>
          <p:cNvPr id="10" name="Picture 9" descr="xai_cascading_parameter_randomization_sanity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999232"/>
            <a:ext cx="4114800" cy="15087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343400" y="2999232"/>
            <a:ext cx="4114800" cy="1508760"/>
          </a:xfrm>
          <a:prstGeom prst="rect">
            <a:avLst/>
          </a:prstGeom>
          <a:noFill/>
          <a:ln w="9525">
            <a:solidFill>
              <a:srgbClr val="24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4535424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50" i="1">
                <a:solidFill>
                  <a:srgbClr val="666666"/>
                </a:solidFill>
                <a:latin typeface="Lato"/>
              </a:defRPr>
            </a:pPr>
            <a:r>
              <a:t>Sanity Check de Adebayo: Decaimiento de Spearman (Capas 11 a 0).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347472"/>
            <a:ext cx="7699248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50" b="1">
                <a:solidFill>
                  <a:srgbClr val="666666"/>
                </a:solidFill>
                <a:latin typeface="Lato"/>
              </a:defRPr>
            </a:pPr>
            <a:r>
              <a:t>03. PROBLEMA DE NLP Y XAI  |  SECCIÓN 5.2.3  •  PÁG. 09/26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530352"/>
            <a:ext cx="76992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50" b="1">
                <a:solidFill>
                  <a:srgbClr val="242222"/>
                </a:solidFill>
                <a:latin typeface="Merriweather"/>
              </a:defRPr>
            </a:pPr>
            <a:r>
              <a:t>Falla Cognitiva de la XAI Tradicional: Mapas Ruidosos de Subpalabra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9144000" cy="16459"/>
          </a:xfrm>
          <a:prstGeom prst="rect">
            <a:avLst/>
          </a:prstGeom>
          <a:solidFill>
            <a:srgbClr val="24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8402" y="3449200"/>
            <a:ext cx="2698102" cy="17793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376" y="1261872"/>
            <a:ext cx="3429000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7A1C1C"/>
                </a:solidFill>
                <a:latin typeface="Merriweather"/>
              </a:defRPr>
            </a:pPr>
            <a:r>
              <a:t>¿Por qué no sirven a un verificador?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242222"/>
                </a:solidFill>
                <a:latin typeface="Lato"/>
              </a:rPr>
              <a:t>▪ Fragmentación WordPiece: </a:t>
            </a:r>
            <a:r>
              <a:rPr sz="900">
                <a:solidFill>
                  <a:srgbClr val="242222"/>
                </a:solidFill>
                <a:latin typeface="Lato"/>
              </a:rPr>
              <a:t>Ilumina sufijos aislados ('##ado'), artículos y signos de puntuación sin sentido semántico.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242222"/>
                </a:solidFill>
                <a:latin typeface="Lato"/>
              </a:rPr>
              <a:t>▪ Ceguera a la Dilución Contextual: </a:t>
            </a:r>
            <a:r>
              <a:rPr sz="900">
                <a:solidFill>
                  <a:srgbClr val="242222"/>
                </a:solidFill>
                <a:latin typeface="Lato"/>
              </a:rPr>
              <a:t>Suma tokens linealmente sin ver si el cuerpo desactiva la alarma del titular.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242222"/>
                </a:solidFill>
                <a:latin typeface="Lato"/>
              </a:rPr>
              <a:t>▪ Ceguera al Bucle Redundante: </a:t>
            </a:r>
            <a:r>
              <a:rPr sz="900">
                <a:solidFill>
                  <a:srgbClr val="242222"/>
                </a:solidFill>
                <a:latin typeface="Lato"/>
              </a:rPr>
              <a:t>Al repetirse una mentira en varias frases, el gradiente se divide y oculta la repetición.</a:t>
            </a:r>
          </a:p>
        </p:txBody>
      </p:sp>
      <p:pic>
        <p:nvPicPr>
          <p:cNvPr id="7" name="Picture 6" descr="xai_token_attribution_heatmaps_redunda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234440"/>
            <a:ext cx="4160520" cy="166420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297680" y="1234440"/>
            <a:ext cx="4160520" cy="1664208"/>
          </a:xfrm>
          <a:prstGeom prst="rect">
            <a:avLst/>
          </a:prstGeom>
          <a:noFill/>
          <a:ln w="9525">
            <a:solidFill>
              <a:srgbClr val="24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2926079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50" i="1">
                <a:solidFill>
                  <a:srgbClr val="666666"/>
                </a:solidFill>
                <a:latin typeface="Lato"/>
              </a:defRPr>
            </a:pPr>
            <a:r>
              <a:t>Mapas de calor de subpalabras (Fast-IG, IxG, LIME, SHAP) fragmentados.</a:t>
            </a:r>
          </a:p>
        </p:txBody>
      </p:sp>
      <p:pic>
        <p:nvPicPr>
          <p:cNvPr id="10" name="Picture 9" descr="xai_latencia_por_metod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3063240"/>
            <a:ext cx="4160520" cy="144475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297680" y="3063240"/>
            <a:ext cx="4160520" cy="1444752"/>
          </a:xfrm>
          <a:prstGeom prst="rect">
            <a:avLst/>
          </a:prstGeom>
          <a:noFill/>
          <a:ln w="9525">
            <a:solidFill>
              <a:srgbClr val="24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4535424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50" i="1">
                <a:solidFill>
                  <a:srgbClr val="666666"/>
                </a:solidFill>
                <a:latin typeface="Lato"/>
              </a:defRPr>
            </a:pPr>
            <a:r>
              <a:t>Latencia computacional: LIME y KernelSHAP son 100x más lentos que IxG.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347472"/>
            <a:ext cx="7699248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50" b="1">
                <a:solidFill>
                  <a:srgbClr val="666666"/>
                </a:solidFill>
                <a:latin typeface="Lato"/>
              </a:defRPr>
            </a:pPr>
            <a:r>
              <a:t>04. PREGUNTA DE INVESTIGACIÓN Y PROPÓSITO  •  PÁG. 10/26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530352"/>
            <a:ext cx="76992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50" b="1">
                <a:solidFill>
                  <a:srgbClr val="242222"/>
                </a:solidFill>
                <a:latin typeface="Merriweather"/>
              </a:defRPr>
            </a:pPr>
            <a:r>
              <a:t>4. Pregunta Central de Investigación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9144000" cy="16459"/>
          </a:xfrm>
          <a:prstGeom prst="rect">
            <a:avLst/>
          </a:prstGeom>
          <a:solidFill>
            <a:srgbClr val="24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371600"/>
            <a:ext cx="7040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 i="1">
                <a:solidFill>
                  <a:srgbClr val="242222"/>
                </a:solidFill>
                <a:latin typeface="Merriweather"/>
              </a:defRPr>
            </a:pPr>
            <a:r>
              <a:t>«¿En qué medida la caracterización e integración de patrones lingüísticos y semánticos intrínsecos de noticias en español, junto con métodos de explicabilidad, contribuye a detectar desinformación y permite interpretar la influencia de esos patrones en las predicciones de los modelos?»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2788920"/>
            <a:ext cx="3657600" cy="18288"/>
          </a:xfrm>
          <a:prstGeom prst="rect">
            <a:avLst/>
          </a:prstGeom>
          <a:solidFill>
            <a:srgbClr val="24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944368"/>
            <a:ext cx="338328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2222"/>
                </a:solidFill>
                <a:latin typeface="Merriweather"/>
              </a:defRPr>
            </a:pPr>
            <a:r>
              <a:t>Propósito Central</a:t>
            </a:r>
          </a:p>
          <a:p>
            <a:pPr>
              <a:spcAft>
                <a:spcPts val="600"/>
              </a:spcAft>
              <a:defRPr sz="919">
                <a:solidFill>
                  <a:srgbClr val="242222"/>
                </a:solidFill>
                <a:latin typeface="Lato"/>
              </a:defRPr>
            </a:pPr>
            <a:r>
              <a:t>▪ Articular el diagnóstico crítico de Transformers y XAI con un marco propio de explicabilidad forense por cláusulas (MexGen + IML).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2944368"/>
            <a:ext cx="338328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E4D3B"/>
                </a:solidFill>
                <a:latin typeface="Merriweather"/>
              </a:defRPr>
            </a:pPr>
            <a:r>
              <a:t>Hipótesis de Trabajo</a:t>
            </a:r>
          </a:p>
          <a:p>
            <a:pPr>
              <a:spcAft>
                <a:spcPts val="600"/>
              </a:spcAft>
              <a:defRPr sz="919">
                <a:solidFill>
                  <a:srgbClr val="242222"/>
                </a:solidFill>
                <a:latin typeface="Lato"/>
              </a:defRPr>
            </a:pPr>
            <a:r>
              <a:t>▪ Las señales macro-lingüísticas desacopladas superan la fidelidad de mapas de subpalabra y otorgan resistencia al Domain Shift.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347472"/>
            <a:ext cx="7699248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50" b="1">
                <a:solidFill>
                  <a:srgbClr val="666666"/>
                </a:solidFill>
                <a:latin typeface="Lato"/>
              </a:defRPr>
            </a:pPr>
            <a:r>
              <a:t>05. OBJETIVOS DEL PROYECTO  |  SECCIÓN 1.4  •  PÁG. 11/26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530352"/>
            <a:ext cx="76992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50" b="1">
                <a:solidFill>
                  <a:srgbClr val="242222"/>
                </a:solidFill>
                <a:latin typeface="Merriweather"/>
              </a:defRPr>
            </a:pPr>
            <a:r>
              <a:t>5. Objetivo General y Objetivos Específicos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9144000" cy="16459"/>
          </a:xfrm>
          <a:prstGeom prst="rect">
            <a:avLst/>
          </a:prstGeom>
          <a:solidFill>
            <a:srgbClr val="24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8014" y="-85400"/>
            <a:ext cx="3178132" cy="2095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376" y="1261872"/>
            <a:ext cx="769924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7A1C1C"/>
                </a:solidFill>
                <a:latin typeface="Merriweather"/>
              </a:defRPr>
            </a:pPr>
            <a:r>
              <a:t>Objetivo General</a:t>
            </a:r>
          </a:p>
          <a:p>
            <a:pPr>
              <a:spcAft>
                <a:spcPts val="600"/>
              </a:spcAft>
              <a:defRPr sz="919">
                <a:solidFill>
                  <a:srgbClr val="242222"/>
                </a:solidFill>
                <a:latin typeface="Lato"/>
              </a:defRPr>
            </a:pPr>
            <a:r>
              <a:t>▪ Desarrollar y evaluar un marco metodológico para la detección de desinformación en textos periodísticos en español mediante la caracterización e integración de patrones lingüísticos y semánticos, aplicando métodos de explicabilidad que permitan analizar su influencia en las predicciones.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194560"/>
            <a:ext cx="3749039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2222"/>
                </a:solidFill>
                <a:latin typeface="Merriweather"/>
              </a:defRPr>
            </a:pPr>
            <a:r>
              <a:t>Objetivos Específicos (Diagnóstico y XAI)</a:t>
            </a:r>
          </a:p>
          <a:p>
            <a:pPr>
              <a:spcAft>
                <a:spcPts val="600"/>
              </a:spcAft>
            </a:pPr>
            <a:r>
              <a:rPr sz="880" b="1">
                <a:solidFill>
                  <a:srgbClr val="242222"/>
                </a:solidFill>
                <a:latin typeface="Lato"/>
              </a:rPr>
              <a:t>▪ 1. Caracterizar patrones: </a:t>
            </a:r>
            <a:r>
              <a:rPr sz="880">
                <a:solidFill>
                  <a:srgbClr val="242222"/>
                </a:solidFill>
                <a:latin typeface="Lato"/>
              </a:rPr>
              <a:t>Operacionalizar carga afectiva, redundancia, cohesión y morfosintaxis en variables comparables.</a:t>
            </a:r>
          </a:p>
          <a:p>
            <a:pPr>
              <a:spcAft>
                <a:spcPts val="600"/>
              </a:spcAft>
            </a:pPr>
            <a:r>
              <a:rPr sz="880" b="1">
                <a:solidFill>
                  <a:srgbClr val="242222"/>
                </a:solidFill>
                <a:latin typeface="Lato"/>
              </a:rPr>
              <a:t>▪ 2. Evaluar Domain Shift: </a:t>
            </a:r>
            <a:r>
              <a:rPr sz="880">
                <a:solidFill>
                  <a:srgbClr val="242222"/>
                </a:solidFill>
                <a:latin typeface="Lato"/>
              </a:rPr>
              <a:t>Medir la generalización transatlántica de Transformers y su dependencia de atajos espurios.</a:t>
            </a:r>
          </a:p>
          <a:p>
            <a:pPr>
              <a:spcAft>
                <a:spcPts val="600"/>
              </a:spcAft>
            </a:pPr>
            <a:r>
              <a:rPr sz="880" b="1">
                <a:solidFill>
                  <a:srgbClr val="242222"/>
                </a:solidFill>
                <a:latin typeface="Lato"/>
              </a:rPr>
              <a:t>▪ 3. Auditar XAI post-hoc: </a:t>
            </a:r>
            <a:r>
              <a:rPr sz="880">
                <a:solidFill>
                  <a:srgbClr val="242222"/>
                </a:solidFill>
                <a:latin typeface="Lato"/>
              </a:rPr>
              <a:t>Evaluar fidelidad y estabilidad con ERASER (Comprensividad/Suficiencia) y pruebas de Adebayo.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90288" y="2194560"/>
            <a:ext cx="10972" cy="22860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194560"/>
            <a:ext cx="3703320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E4D3B"/>
                </a:solidFill>
                <a:latin typeface="Merriweather"/>
              </a:defRPr>
            </a:pPr>
            <a:r>
              <a:t>Objetivos Específicos (Propuesta Propia)</a:t>
            </a:r>
          </a:p>
          <a:p>
            <a:pPr>
              <a:spcAft>
                <a:spcPts val="600"/>
              </a:spcAft>
            </a:pPr>
            <a:r>
              <a:rPr sz="880" b="1">
                <a:solidFill>
                  <a:srgbClr val="242222"/>
                </a:solidFill>
                <a:latin typeface="Lato"/>
              </a:rPr>
              <a:t>▪ 4. Desarrollar MexGen e IML: </a:t>
            </a:r>
            <a:r>
              <a:rPr sz="880">
                <a:solidFill>
                  <a:srgbClr val="242222"/>
                </a:solidFill>
                <a:latin typeface="Lato"/>
              </a:rPr>
              <a:t>Validar la partición y ablación de cláusulas, formalizando el Índice IML (36 variables base y 5 arquetipos).</a:t>
            </a:r>
          </a:p>
          <a:p>
            <a:pPr>
              <a:spcAft>
                <a:spcPts val="600"/>
              </a:spcAft>
            </a:pPr>
            <a:r>
              <a:rPr sz="880" b="1">
                <a:solidFill>
                  <a:srgbClr val="242222"/>
                </a:solidFill>
                <a:latin typeface="Lato"/>
              </a:rPr>
              <a:t>▪ 5. Evaluar Modelo Ensamble 5D: </a:t>
            </a:r>
            <a:r>
              <a:rPr sz="880">
                <a:solidFill>
                  <a:srgbClr val="242222"/>
                </a:solidFill>
                <a:latin typeface="Lato"/>
              </a:rPr>
              <a:t>Construir un meta-clasificador GBDT sobre 42 variables que preserve la invarianza territorial entre España y América Latina.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347472"/>
            <a:ext cx="7699248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50" b="1">
                <a:solidFill>
                  <a:srgbClr val="666666"/>
                </a:solidFill>
                <a:latin typeface="Lato"/>
              </a:defRPr>
            </a:pPr>
            <a:r>
              <a:t>06. METODOLOGÍA  |  CAPÍTULO 3  •  PÁG. 12/26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530352"/>
            <a:ext cx="76992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50" b="1">
                <a:solidFill>
                  <a:srgbClr val="242222"/>
                </a:solidFill>
                <a:latin typeface="Merriweather"/>
              </a:defRPr>
            </a:pPr>
            <a:r>
              <a:t>6. Metodología Experimental y Corpus Transatlántico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9144000" cy="16459"/>
          </a:xfrm>
          <a:prstGeom prst="rect">
            <a:avLst/>
          </a:prstGeom>
          <a:solidFill>
            <a:srgbClr val="24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4097" y="-46312"/>
            <a:ext cx="2815004" cy="14386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376" y="1261872"/>
            <a:ext cx="3520440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2222"/>
                </a:solidFill>
                <a:latin typeface="Merriweather"/>
              </a:defRPr>
            </a:pPr>
            <a:r>
              <a:t>Diseño en 4 Fases Secuenciales</a:t>
            </a:r>
          </a:p>
          <a:p>
            <a:pPr>
              <a:spcAft>
                <a:spcPts val="600"/>
              </a:spcAft>
            </a:pPr>
            <a:r>
              <a:rPr sz="869" b="1">
                <a:solidFill>
                  <a:srgbClr val="242222"/>
                </a:solidFill>
                <a:latin typeface="Lato"/>
              </a:rPr>
              <a:t>▪ Fase 1 — Diagnóstico PLN: </a:t>
            </a:r>
            <a:r>
              <a:rPr sz="869">
                <a:solidFill>
                  <a:srgbClr val="242222"/>
                </a:solidFill>
                <a:latin typeface="Lato"/>
              </a:rPr>
              <a:t>4 modelos evaluados en Corpus Base (N = 2.604) y Dataset Ampliado (N = 4.418).</a:t>
            </a:r>
          </a:p>
          <a:p>
            <a:pPr>
              <a:spcAft>
                <a:spcPts val="600"/>
              </a:spcAft>
            </a:pPr>
            <a:r>
              <a:rPr sz="869" b="1">
                <a:solidFill>
                  <a:srgbClr val="242222"/>
                </a:solidFill>
                <a:latin typeface="Lato"/>
              </a:rPr>
              <a:t>▪ Fase 2 — Auditoría XAI: </a:t>
            </a:r>
            <a:r>
              <a:rPr sz="869">
                <a:solidFill>
                  <a:srgbClr val="242222"/>
                </a:solidFill>
                <a:latin typeface="Lato"/>
              </a:rPr>
              <a:t>7 métodos post-hoc evaluados en ERASER, curvas MoRF/LoRF y Sanity Checks.</a:t>
            </a:r>
          </a:p>
          <a:p>
            <a:pPr>
              <a:spcAft>
                <a:spcPts val="600"/>
              </a:spcAft>
            </a:pPr>
            <a:r>
              <a:rPr sz="869" b="1">
                <a:solidFill>
                  <a:srgbClr val="242222"/>
                </a:solidFill>
                <a:latin typeface="Lato"/>
              </a:rPr>
              <a:t>▪ Fase 3 — MexGen e IML: </a:t>
            </a:r>
            <a:r>
              <a:rPr sz="869">
                <a:solidFill>
                  <a:srgbClr val="242222"/>
                </a:solidFill>
                <a:latin typeface="Lato"/>
              </a:rPr>
              <a:t>13.270 oraciones (47.693 pares SBERT) y 2.012 cláusulas informativas (N = 272).</a:t>
            </a:r>
          </a:p>
          <a:p>
            <a:pPr>
              <a:spcAft>
                <a:spcPts val="600"/>
              </a:spcAft>
            </a:pPr>
            <a:r>
              <a:rPr sz="869" b="1">
                <a:solidFill>
                  <a:srgbClr val="242222"/>
                </a:solidFill>
                <a:latin typeface="Lato"/>
              </a:rPr>
              <a:t>▪ Fase 4 — Ensamble 5D: </a:t>
            </a:r>
            <a:r>
              <a:rPr sz="869">
                <a:solidFill>
                  <a:srgbClr val="242222"/>
                </a:solidFill>
                <a:latin typeface="Lato"/>
              </a:rPr>
              <a:t>42 variables en GBDT (140 árboles), 5-Fold Stratified CV (OOF) y umbral Youden θ* = 0,42.</a:t>
            </a:r>
          </a:p>
        </p:txBody>
      </p:sp>
      <p:pic>
        <p:nvPicPr>
          <p:cNvPr id="7" name="Picture 6" descr="1_distribucion_composicion_dataset_44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280160"/>
            <a:ext cx="4069080" cy="2971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389120" y="1280160"/>
            <a:ext cx="4069080" cy="2971800"/>
          </a:xfrm>
          <a:prstGeom prst="rect">
            <a:avLst/>
          </a:prstGeom>
          <a:noFill/>
          <a:ln w="9525">
            <a:solidFill>
              <a:srgbClr val="24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4279392"/>
            <a:ext cx="4069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50" i="1">
                <a:solidFill>
                  <a:srgbClr val="666666"/>
                </a:solidFill>
                <a:latin typeface="Lato"/>
              </a:defRPr>
            </a:pPr>
            <a:r>
              <a:t>Distribución paritaria del Dataset Ampliado (N = 4.418: 2.354 España y 2.064 LatAm).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347472"/>
            <a:ext cx="7699248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50" b="1">
                <a:solidFill>
                  <a:srgbClr val="666666"/>
                </a:solidFill>
                <a:latin typeface="Lato"/>
              </a:defRPr>
            </a:pPr>
            <a:r>
              <a:t>07. SOLUCIÓN Y TRATAMIENTO  |  SECCIÓN 2.3  •  PÁG. 13/26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530352"/>
            <a:ext cx="76992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50" b="1">
                <a:solidFill>
                  <a:srgbClr val="242222"/>
                </a:solidFill>
                <a:latin typeface="Merriweather"/>
              </a:defRPr>
            </a:pPr>
            <a:r>
              <a:t>Caracterización Lingüística y Estilometría Forense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9144000" cy="16459"/>
          </a:xfrm>
          <a:prstGeom prst="rect">
            <a:avLst/>
          </a:prstGeom>
          <a:solidFill>
            <a:srgbClr val="24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575" y="3109036"/>
            <a:ext cx="2594052" cy="15735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376" y="1298448"/>
            <a:ext cx="3703320" cy="3246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2222"/>
                </a:solidFill>
                <a:latin typeface="Merriweather"/>
              </a:defRPr>
            </a:pPr>
            <a:r>
              <a:t>Fundamentos de Lingüística Forense (Sección 2.3)</a:t>
            </a:r>
          </a:p>
          <a:p>
            <a:pPr>
              <a:spcAft>
                <a:spcPts val="600"/>
              </a:spcAft>
            </a:pPr>
            <a:r>
              <a:rPr sz="880" b="1">
                <a:solidFill>
                  <a:srgbClr val="242222"/>
                </a:solidFill>
                <a:latin typeface="Lato"/>
              </a:rPr>
              <a:t>▪ Huellas léxico-sintácticas: </a:t>
            </a:r>
            <a:r>
              <a:rPr sz="880">
                <a:solidFill>
                  <a:srgbClr val="242222"/>
                </a:solidFill>
                <a:latin typeface="Lato"/>
              </a:rPr>
              <a:t>Riqueza léxica invariante de Guiraud (R = |V|/√|N|), Hapax Legomena y legibilidad (Horne &amp; Adalı, 2017).</a:t>
            </a:r>
          </a:p>
          <a:p>
            <a:pPr>
              <a:spcAft>
                <a:spcPts val="600"/>
              </a:spcAft>
            </a:pPr>
            <a:r>
              <a:rPr sz="880" b="1">
                <a:solidFill>
                  <a:srgbClr val="242222"/>
                </a:solidFill>
                <a:latin typeface="Lato"/>
              </a:rPr>
              <a:t>▪ Efecto de Verdad Ilusoria: </a:t>
            </a:r>
            <a:r>
              <a:rPr sz="880">
                <a:solidFill>
                  <a:srgbClr val="242222"/>
                </a:solidFill>
                <a:latin typeface="Lato"/>
              </a:rPr>
              <a:t>Repetir una misma idea con paráfrasis aumenta su credibilidad percibida → medido con matrices coseno SBERT.</a:t>
            </a:r>
          </a:p>
          <a:p>
            <a:pPr>
              <a:spcAft>
                <a:spcPts val="600"/>
              </a:spcAft>
            </a:pPr>
            <a:r>
              <a:rPr sz="880" b="1">
                <a:solidFill>
                  <a:srgbClr val="242222"/>
                </a:solidFill>
                <a:latin typeface="Lato"/>
              </a:rPr>
              <a:t>▪ Sensacionalismo vs. Emoción: </a:t>
            </a:r>
            <a:r>
              <a:rPr sz="880">
                <a:solidFill>
                  <a:srgbClr val="242222"/>
                </a:solidFill>
                <a:latin typeface="Lato"/>
              </a:rPr>
              <a:t>Dramatización retórica para inducir alarma visceral (BETO JJNeila) más allá de emociones básicas.</a:t>
            </a:r>
          </a:p>
          <a:p>
            <a:pPr>
              <a:spcAft>
                <a:spcPts val="600"/>
              </a:spcAft>
            </a:pPr>
            <a:r>
              <a:rPr sz="880" b="1">
                <a:solidFill>
                  <a:srgbClr val="242222"/>
                </a:solidFill>
                <a:latin typeface="Lato"/>
              </a:rPr>
              <a:t>▪ Superficie Ortotipográfica: </a:t>
            </a:r>
            <a:r>
              <a:rPr sz="880">
                <a:solidFill>
                  <a:srgbClr val="242222"/>
                </a:solidFill>
                <a:latin typeface="Lato"/>
              </a:rPr>
              <a:t>Mayúsculas sostenidas (grito digital), puntuación enfática, verbos dicendi y adverbios valorativos.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298448"/>
            <a:ext cx="10972" cy="315468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36592" y="1298448"/>
            <a:ext cx="3703320" cy="3246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7A1C1C"/>
                </a:solidFill>
                <a:latin typeface="Merriweather"/>
              </a:defRPr>
            </a:pPr>
            <a:r>
              <a:t>Las 2 Paradojas que Resuelve nuestro Enfoque</a:t>
            </a:r>
          </a:p>
          <a:p>
            <a:pPr>
              <a:spcAft>
                <a:spcPts val="600"/>
              </a:spcAft>
            </a:pPr>
            <a:r>
              <a:rPr sz="880" b="1">
                <a:solidFill>
                  <a:srgbClr val="242222"/>
                </a:solidFill>
                <a:latin typeface="Lato"/>
              </a:rPr>
              <a:t>▪ Paradoja 1: Propaganda Sobria: </a:t>
            </a:r>
            <a:r>
              <a:rPr sz="880">
                <a:solidFill>
                  <a:srgbClr val="242222"/>
                </a:solidFill>
                <a:latin typeface="Lato"/>
              </a:rPr>
              <a:t>Bulos redactados con tono frío e institucional para engañar filtros superficiales → detectados por su bucle de redundancia SBERT.</a:t>
            </a:r>
          </a:p>
          <a:p>
            <a:pPr>
              <a:spcAft>
                <a:spcPts val="600"/>
              </a:spcAft>
            </a:pPr>
            <a:r>
              <a:rPr sz="880" b="1">
                <a:solidFill>
                  <a:srgbClr val="242222"/>
                </a:solidFill>
                <a:latin typeface="Lato"/>
              </a:rPr>
              <a:t>▪ Paradoja 2: Periodismo de Choque: </a:t>
            </a:r>
            <a:r>
              <a:rPr sz="880">
                <a:solidFill>
                  <a:srgbClr val="242222"/>
                </a:solidFill>
                <a:latin typeface="Lato"/>
              </a:rPr>
              <a:t>Crónicas 100% reales con titulares dramáticos → diferenciadas porque su cuerpo técnico amortigua la alarma inicial (Efecto Dilución).</a:t>
            </a:r>
          </a:p>
          <a:p>
            <a:pPr>
              <a:spcAft>
                <a:spcPts val="600"/>
              </a:spcAft>
            </a:pPr>
            <a:r>
              <a:rPr sz="880" b="1">
                <a:solidFill>
                  <a:srgbClr val="242222"/>
                </a:solidFill>
                <a:latin typeface="Lato"/>
              </a:rPr>
              <a:t>▪ Desacoplamiento: </a:t>
            </a:r>
            <a:r>
              <a:rPr sz="880">
                <a:solidFill>
                  <a:srgbClr val="242222"/>
                </a:solidFill>
                <a:latin typeface="Lato"/>
              </a:rPr>
              <a:t>Extraer 36 variables en frío sin nombres propios evita memorizar países o políticos.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347472"/>
            <a:ext cx="7699248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50" b="1">
                <a:solidFill>
                  <a:srgbClr val="666666"/>
                </a:solidFill>
                <a:latin typeface="Lato"/>
              </a:defRPr>
            </a:pPr>
            <a:r>
              <a:t>07. SOLUCIÓN Y TRATAMIENTO  |  REPORTE_SENSACIONALISMO.MD  •  PÁG. 14/26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530352"/>
            <a:ext cx="76992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50" b="1">
                <a:solidFill>
                  <a:srgbClr val="242222"/>
                </a:solidFill>
                <a:latin typeface="Merriweather"/>
              </a:defRPr>
            </a:pPr>
            <a:r>
              <a:t>Rama 1: Modelos de Sensacionalismo y Dilución Contextual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9144000" cy="16459"/>
          </a:xfrm>
          <a:prstGeom prst="rect">
            <a:avLst/>
          </a:prstGeom>
          <a:solidFill>
            <a:srgbClr val="24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0800" y="-85400"/>
            <a:ext cx="2078039" cy="2095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376" y="1261872"/>
            <a:ext cx="3429000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2222"/>
                </a:solidFill>
                <a:latin typeface="Merriweather"/>
              </a:defRPr>
            </a:pPr>
            <a:r>
              <a:t>Elección del Modelo y Hallazgo Clave</a:t>
            </a:r>
          </a:p>
          <a:p>
            <a:pPr>
              <a:spcAft>
                <a:spcPts val="600"/>
              </a:spcAft>
            </a:pPr>
            <a:r>
              <a:rPr sz="869" b="1">
                <a:solidFill>
                  <a:srgbClr val="242222"/>
                </a:solidFill>
                <a:latin typeface="Lato"/>
              </a:rPr>
              <a:t>▪ Comparativa de 3 Modelos: </a:t>
            </a:r>
            <a:r>
              <a:rPr sz="869">
                <a:solidFill>
                  <a:srgbClr val="242222"/>
                </a:solidFill>
                <a:latin typeface="Lato"/>
              </a:rPr>
              <a:t>JJNeila BETO (15 ms) vs. mDeBERTa-v3 Zero-Shot (112 ms) y RoBERTuito (emociones). Se elige JJNeila por medir el constructo exacto 7x más rápido.</a:t>
            </a:r>
          </a:p>
          <a:p>
            <a:pPr>
              <a:spcAft>
                <a:spcPts val="600"/>
              </a:spcAft>
            </a:pPr>
            <a:r>
              <a:rPr sz="869" b="1">
                <a:solidFill>
                  <a:srgbClr val="242222"/>
                </a:solidFill>
                <a:latin typeface="Lato"/>
              </a:rPr>
              <a:t>▪ ¿P_full es el promedio de frases?: </a:t>
            </a:r>
            <a:r>
              <a:rPr sz="869">
                <a:solidFill>
                  <a:srgbClr val="242222"/>
                </a:solidFill>
                <a:latin typeface="Lato"/>
              </a:rPr>
              <a:t>ROTUNDAMENTE NO (R² = -0,2811 en 272 noticias / 2.012 cláusulas; acierto de solo 31,2% en prensa real).</a:t>
            </a:r>
          </a:p>
          <a:p>
            <a:pPr>
              <a:spcAft>
                <a:spcPts val="600"/>
              </a:spcAft>
            </a:pPr>
            <a:r>
              <a:rPr sz="869" b="1">
                <a:solidFill>
                  <a:srgbClr val="242222"/>
                </a:solidFill>
                <a:latin typeface="Lato"/>
              </a:rPr>
              <a:t>▪ Efecto Dilución Contextual: </a:t>
            </a:r>
            <a:r>
              <a:rPr sz="869">
                <a:solidFill>
                  <a:srgbClr val="242222"/>
                </a:solidFill>
                <a:latin typeface="Lato"/>
              </a:rPr>
              <a:t>En prensa seria, las cláusulas técnicas del cuerpo neutralizan el titular llamativo.</a:t>
            </a:r>
          </a:p>
        </p:txBody>
      </p:sp>
      <p:pic>
        <p:nvPicPr>
          <p:cNvPr id="7" name="Picture 6" descr="comparativa_metricas_sensacionalis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234440"/>
            <a:ext cx="4160520" cy="15544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297680" y="1234440"/>
            <a:ext cx="4160520" cy="1554480"/>
          </a:xfrm>
          <a:prstGeom prst="rect">
            <a:avLst/>
          </a:prstGeom>
          <a:noFill/>
          <a:ln w="9525">
            <a:solidFill>
              <a:srgbClr val="24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2816351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50" i="1">
                <a:solidFill>
                  <a:srgbClr val="666666"/>
                </a:solidFill>
                <a:latin typeface="Lato"/>
              </a:defRPr>
            </a:pPr>
            <a:r>
              <a:t>Comparación en titulares: Salud (2.200), Amarillismo (202) e IA (70).</a:t>
            </a:r>
          </a:p>
        </p:txBody>
      </p:sp>
      <p:pic>
        <p:nvPicPr>
          <p:cNvPr id="10" name="Picture 9" descr="fig1_dispersion_regresion_pfull_vs_agregacion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2971800"/>
            <a:ext cx="4160520" cy="15544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297680" y="2971800"/>
            <a:ext cx="4160520" cy="1554480"/>
          </a:xfrm>
          <a:prstGeom prst="rect">
            <a:avLst/>
          </a:prstGeom>
          <a:noFill/>
          <a:ln w="9525">
            <a:solidFill>
              <a:srgbClr val="24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4553712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50" i="1">
                <a:solidFill>
                  <a:srgbClr val="666666"/>
                </a:solidFill>
                <a:latin typeface="Lato"/>
              </a:defRPr>
            </a:pPr>
            <a:r>
              <a:t>Dispersión P_full vs. 5 reglas composicionales (Efecto Dilución).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347472"/>
            <a:ext cx="7699248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50" b="1">
                <a:solidFill>
                  <a:srgbClr val="666666"/>
                </a:solidFill>
                <a:latin typeface="Lato"/>
              </a:defRPr>
            </a:pPr>
            <a:r>
              <a:t>07. SOLUCIÓN Y TRATAMIENTO  |  REPORTE_SENSACIONALISMO_FRASES_VS_DOCUMENTO_DETALLADO.MD  •  PÁG. 15/26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530352"/>
            <a:ext cx="76992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50" b="1">
                <a:solidFill>
                  <a:srgbClr val="242222"/>
                </a:solidFill>
                <a:latin typeface="Merriweather"/>
              </a:defRPr>
            </a:pPr>
            <a:r>
              <a:t>Experimentos de Ablación Causal: Frases Gatillo vs. Textos de IA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9144000" cy="16459"/>
          </a:xfrm>
          <a:prstGeom prst="rect">
            <a:avLst/>
          </a:prstGeom>
          <a:solidFill>
            <a:srgbClr val="24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8402" y="3449200"/>
            <a:ext cx="2698102" cy="17793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376" y="1261872"/>
            <a:ext cx="3429000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2222"/>
                </a:solidFill>
                <a:latin typeface="Merriweather"/>
              </a:defRPr>
            </a:pPr>
            <a:r>
              <a:t>Pruebas de Ablación en 2.012 Cláusulas</a:t>
            </a:r>
          </a:p>
          <a:p>
            <a:pPr>
              <a:spcAft>
                <a:spcPts val="600"/>
              </a:spcAft>
            </a:pPr>
            <a:r>
              <a:rPr sz="860" b="1">
                <a:solidFill>
                  <a:srgbClr val="242222"/>
                </a:solidFill>
                <a:latin typeface="Lato"/>
              </a:rPr>
              <a:t>▪ Efecto Gatillo en Prensa Real: </a:t>
            </a:r>
            <a:r>
              <a:rPr sz="860">
                <a:solidFill>
                  <a:srgbClr val="242222"/>
                </a:solidFill>
                <a:latin typeface="Lato"/>
              </a:rPr>
              <a:t>Extirpar la cláusula más alarmista (Top-1) invierte la clase en el 15% de las notas; extirpar las Top-2 la invierte en el 25% (1 de cada 4).</a:t>
            </a:r>
          </a:p>
          <a:p>
            <a:pPr>
              <a:spcAft>
                <a:spcPts val="600"/>
              </a:spcAft>
            </a:pPr>
            <a:r>
              <a:rPr sz="860" b="1">
                <a:solidFill>
                  <a:srgbClr val="242222"/>
                </a:solidFill>
                <a:latin typeface="Lato"/>
              </a:rPr>
              <a:t>▪ Contraste con IA Sintética: </a:t>
            </a:r>
            <a:r>
              <a:rPr sz="860">
                <a:solidFill>
                  <a:srgbClr val="242222"/>
                </a:solidFill>
                <a:latin typeface="Lato"/>
              </a:rPr>
              <a:t>En textos generados por IA (IA_0), todas las frases están saturadas homogéneamente (r = 0,994, 0% de inversión al ablacionar).</a:t>
            </a:r>
          </a:p>
          <a:p>
            <a:pPr>
              <a:spcAft>
                <a:spcPts val="600"/>
              </a:spcAft>
            </a:pPr>
            <a:r>
              <a:rPr sz="860" b="1">
                <a:solidFill>
                  <a:srgbClr val="242222"/>
                </a:solidFill>
                <a:latin typeface="Lato"/>
              </a:rPr>
              <a:t>▪ 4 Casos Hilo Conductor: </a:t>
            </a:r>
            <a:r>
              <a:rPr sz="860">
                <a:solidFill>
                  <a:srgbClr val="242222"/>
                </a:solidFill>
                <a:latin typeface="Lato"/>
              </a:rPr>
              <a:t>AMA_2 (Asteroide Apophis), AMA_11 (Criatura marina), IA_0 e IA_1 validan la partición por comas y signos.</a:t>
            </a:r>
          </a:p>
        </p:txBody>
      </p:sp>
      <p:pic>
        <p:nvPicPr>
          <p:cNvPr id="7" name="Picture 6" descr="fig4_ablacion_causal_frases_drop_fli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234440"/>
            <a:ext cx="4160520" cy="157276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297680" y="1234440"/>
            <a:ext cx="4160520" cy="1572768"/>
          </a:xfrm>
          <a:prstGeom prst="rect">
            <a:avLst/>
          </a:prstGeom>
          <a:noFill/>
          <a:ln w="9525">
            <a:solidFill>
              <a:srgbClr val="24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2834639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50" i="1">
                <a:solidFill>
                  <a:srgbClr val="666666"/>
                </a:solidFill>
                <a:latin typeface="Lato"/>
              </a:defRPr>
            </a:pPr>
            <a:r>
              <a:t>Caída de probabilidad e inversión de clase al extirpar Top-1, Top-2 y Top-3.</a:t>
            </a:r>
          </a:p>
        </p:txBody>
      </p:sp>
      <p:pic>
        <p:nvPicPr>
          <p:cNvPr id="10" name="Picture 9" descr="fig7_casos_estudio_ejempla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2999232"/>
            <a:ext cx="4160520" cy="15087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297680" y="2999232"/>
            <a:ext cx="4160520" cy="1508760"/>
          </a:xfrm>
          <a:prstGeom prst="rect">
            <a:avLst/>
          </a:prstGeom>
          <a:noFill/>
          <a:ln w="9525">
            <a:solidFill>
              <a:srgbClr val="24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4535424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50" i="1">
                <a:solidFill>
                  <a:srgbClr val="666666"/>
                </a:solidFill>
                <a:latin typeface="Lato"/>
              </a:defRPr>
            </a:pPr>
            <a:r>
              <a:t>Dinámica clausal en los 4 casos ejemplares (AMA_2, AMA_11, IA_0, IA_1).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347472"/>
            <a:ext cx="7699248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50" b="1">
                <a:solidFill>
                  <a:srgbClr val="666666"/>
                </a:solidFill>
                <a:latin typeface="Lato"/>
              </a:defRPr>
            </a:pPr>
            <a:r>
              <a:t>07. SOLUCIÓN Y TRATAMIENTO  |  REPORTE_REDUNDANCIA.MD Y REPORTE_UMBRAL_REDUNDANCIA.MD  •  PÁG. 16/26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530352"/>
            <a:ext cx="76992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50" b="1">
                <a:solidFill>
                  <a:srgbClr val="242222"/>
                </a:solidFill>
                <a:latin typeface="Merriweather"/>
              </a:defRPr>
            </a:pPr>
            <a:r>
              <a:t>Rama 2: Redundancia Semántica (SBERT), Umbral GMM y Shannon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9144000" cy="16459"/>
          </a:xfrm>
          <a:prstGeom prst="rect">
            <a:avLst/>
          </a:prstGeom>
          <a:solidFill>
            <a:srgbClr val="24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4097" y="-46312"/>
            <a:ext cx="2815004" cy="14386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376" y="1261872"/>
            <a:ext cx="3429000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2222"/>
                </a:solidFill>
                <a:latin typeface="Merriweather"/>
              </a:defRPr>
            </a:pPr>
            <a:r>
              <a:t>Formalización en 47.693 Pares Oracionales</a:t>
            </a:r>
          </a:p>
          <a:p>
            <a:pPr>
              <a:spcAft>
                <a:spcPts val="600"/>
              </a:spcAft>
            </a:pPr>
            <a:r>
              <a:rPr sz="860" b="1">
                <a:solidFill>
                  <a:srgbClr val="242222"/>
                </a:solidFill>
                <a:latin typeface="Lato"/>
              </a:rPr>
              <a:t>▪ SBERT Clásico Ganador (Rank 1): </a:t>
            </a:r>
            <a:r>
              <a:rPr sz="860">
                <a:solidFill>
                  <a:srgbClr val="242222"/>
                </a:solidFill>
                <a:latin typeface="Lato"/>
              </a:rPr>
              <a:t>Score Global = 0,6242 (Pearson STS-B r = 0,8282, F1 PAWS-X = 0,6257), superando a CNN, BiLSTM y Attention-SBERT.</a:t>
            </a:r>
          </a:p>
          <a:p>
            <a:pPr>
              <a:spcAft>
                <a:spcPts val="600"/>
              </a:spcAft>
            </a:pPr>
            <a:r>
              <a:rPr sz="860" b="1">
                <a:solidFill>
                  <a:srgbClr val="242222"/>
                </a:solidFill>
                <a:latin typeface="Lato"/>
              </a:rPr>
              <a:t>▪ Extractor, no clasificador aislado: </a:t>
            </a:r>
            <a:r>
              <a:rPr sz="860">
                <a:solidFill>
                  <a:srgbClr val="242222"/>
                </a:solidFill>
                <a:latin typeface="Lato"/>
              </a:rPr>
              <a:t>Su ROC-AUC directo (~0,504) prueba que la redundancia sola no decide falsedad, pero cuantifica el bucle retórico.</a:t>
            </a:r>
          </a:p>
          <a:p>
            <a:pPr>
              <a:spcAft>
                <a:spcPts val="600"/>
              </a:spcAft>
            </a:pPr>
            <a:r>
              <a:rPr sz="860" b="1">
                <a:solidFill>
                  <a:srgbClr val="242222"/>
                </a:solidFill>
                <a:latin typeface="Lato"/>
              </a:rPr>
              <a:t>▪ Umbral GMM (τ = 0,34) y Shannon: </a:t>
            </a:r>
            <a:r>
              <a:rPr sz="860">
                <a:solidFill>
                  <a:srgbClr val="242222"/>
                </a:solidFill>
                <a:latin typeface="Lato"/>
              </a:rPr>
              <a:t>Separa progresión lineal de repetición; la banda extrema de Shannon (0,851 - 0,931] concentra un 79,2% de Fake News.</a:t>
            </a:r>
          </a:p>
        </p:txBody>
      </p:sp>
      <p:pic>
        <p:nvPicPr>
          <p:cNvPr id="7" name="Picture 6" descr="model_selection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234440"/>
            <a:ext cx="4160520" cy="157276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297680" y="1234440"/>
            <a:ext cx="4160520" cy="1572768"/>
          </a:xfrm>
          <a:prstGeom prst="rect">
            <a:avLst/>
          </a:prstGeom>
          <a:noFill/>
          <a:ln w="9525">
            <a:solidFill>
              <a:srgbClr val="24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2834639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50" i="1">
                <a:solidFill>
                  <a:srgbClr val="666666"/>
                </a:solidFill>
                <a:latin typeface="Lato"/>
              </a:defRPr>
            </a:pPr>
            <a:r>
              <a:t>Ranking multi-tarea (STS-B, PAWS-X, XNLI y Corpus Tesis N = 2.604).</a:t>
            </a:r>
          </a:p>
        </p:txBody>
      </p:sp>
      <p:pic>
        <p:nvPicPr>
          <p:cNvPr id="10" name="Picture 9" descr="distribucion_similitud_corp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2999232"/>
            <a:ext cx="4160520" cy="15087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297680" y="2999232"/>
            <a:ext cx="4160520" cy="1508760"/>
          </a:xfrm>
          <a:prstGeom prst="rect">
            <a:avLst/>
          </a:prstGeom>
          <a:noFill/>
          <a:ln w="9525">
            <a:solidFill>
              <a:srgbClr val="24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4535424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50" i="1">
                <a:solidFill>
                  <a:srgbClr val="666666"/>
                </a:solidFill>
                <a:latin typeface="Lato"/>
              </a:defRPr>
            </a:pPr>
            <a:r>
              <a:t>Calibración del umbral bayesiano τ = 0,34 sobre 47.693 pares oracionales.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347472"/>
            <a:ext cx="7699248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50" b="1">
                <a:solidFill>
                  <a:srgbClr val="666666"/>
                </a:solidFill>
                <a:latin typeface="Lato"/>
              </a:defRPr>
            </a:pPr>
            <a:r>
              <a:t>07. SOLUCIÓN Y TRATAMIENTO  |  REPORTE_ESTILOS_MANIPULACION_TEXTUAL.MD  •  PÁG. 17/26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530352"/>
            <a:ext cx="76992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50" b="1">
                <a:solidFill>
                  <a:srgbClr val="242222"/>
                </a:solidFill>
                <a:latin typeface="Merriweather"/>
              </a:defRPr>
            </a:pPr>
            <a:r>
              <a:t>Arquitectura Propia MexGen, 36 Variables Base e Índice IML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9144000" cy="16459"/>
          </a:xfrm>
          <a:prstGeom prst="rect">
            <a:avLst/>
          </a:prstGeom>
          <a:solidFill>
            <a:srgbClr val="24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8014" y="-85400"/>
            <a:ext cx="3178132" cy="2095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376" y="1261872"/>
            <a:ext cx="3703320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2222"/>
                </a:solidFill>
                <a:latin typeface="Merriweather"/>
              </a:defRPr>
            </a:pPr>
            <a:r>
              <a:t>El Mapa Conceptual en 4 Niveles</a:t>
            </a:r>
          </a:p>
          <a:p>
            <a:pPr>
              <a:spcAft>
                <a:spcPts val="600"/>
              </a:spcAft>
            </a:pPr>
            <a:r>
              <a:rPr sz="860" b="1">
                <a:solidFill>
                  <a:srgbClr val="242222"/>
                </a:solidFill>
                <a:latin typeface="Lato"/>
              </a:rPr>
              <a:t>▪ Nivel 1 — Sensores PLN en Frío: </a:t>
            </a:r>
            <a:r>
              <a:rPr sz="860">
                <a:solidFill>
                  <a:srgbClr val="242222"/>
                </a:solidFill>
                <a:latin typeface="Lato"/>
              </a:rPr>
              <a:t>BETO (JJNeila), Sentence-BERT (MiniLM 384d), spaCy POS Tagging y NLTK + Regex.</a:t>
            </a:r>
          </a:p>
          <a:p>
            <a:pPr>
              <a:spcAft>
                <a:spcPts val="600"/>
              </a:spcAft>
            </a:pPr>
            <a:r>
              <a:rPr sz="860" b="1">
                <a:solidFill>
                  <a:srgbClr val="242222"/>
                </a:solidFill>
                <a:latin typeface="Lato"/>
              </a:rPr>
              <a:t>▪ Nivel 2 — 36 Variables Base (D0-D5): </a:t>
            </a:r>
            <a:r>
              <a:rPr sz="860">
                <a:solidFill>
                  <a:srgbClr val="242222"/>
                </a:solidFill>
                <a:latin typeface="Lato"/>
              </a:rPr>
              <a:t>Sensacionalismo/Redundancia (10), Flujo (3), Epistémica (5), Léxica/Legibilidad (6), POS (4) y Mayúsculas/Anclajes (8).</a:t>
            </a:r>
          </a:p>
          <a:p>
            <a:pPr>
              <a:spcAft>
                <a:spcPts val="600"/>
              </a:spcAft>
            </a:pPr>
            <a:r>
              <a:rPr sz="860" b="1">
                <a:solidFill>
                  <a:srgbClr val="242222"/>
                </a:solidFill>
                <a:latin typeface="Lato"/>
              </a:rPr>
              <a:t>▪ Nivel 3 — Perfilador IML (0 a 100): </a:t>
            </a:r>
            <a:r>
              <a:rPr sz="860">
                <a:solidFill>
                  <a:srgbClr val="242222"/>
                </a:solidFill>
                <a:latin typeface="Lato"/>
              </a:rPr>
              <a:t>D1 Carga Emocional, D2 Volatilidad Gatillo, D3 Amortiguación, D4 Reiteración y D5 Cohesión.</a:t>
            </a:r>
          </a:p>
          <a:p>
            <a:pPr>
              <a:spcAft>
                <a:spcPts val="600"/>
              </a:spcAft>
            </a:pPr>
            <a:r>
              <a:rPr sz="860" b="1">
                <a:solidFill>
                  <a:srgbClr val="242222"/>
                </a:solidFill>
                <a:latin typeface="Lato"/>
              </a:rPr>
              <a:t>▪ Nivel 4 — 5 Arquetipos Discursivos: </a:t>
            </a:r>
            <a:r>
              <a:rPr sz="860">
                <a:solidFill>
                  <a:srgbClr val="242222"/>
                </a:solidFill>
                <a:latin typeface="Lato"/>
              </a:rPr>
              <a:t>Estilos I (Estridente), II (Clickbait), III (Propaganda Sobria), IV (Roto) y V (Profesional).</a:t>
            </a:r>
          </a:p>
        </p:txBody>
      </p:sp>
      <p:pic>
        <p:nvPicPr>
          <p:cNvPr id="7" name="Picture 6" descr="fig4_radar_estilos_manipul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234440"/>
            <a:ext cx="3749039" cy="31089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617720" y="1234440"/>
            <a:ext cx="3749039" cy="3108960"/>
          </a:xfrm>
          <a:prstGeom prst="rect">
            <a:avLst/>
          </a:prstGeom>
          <a:noFill/>
          <a:ln w="9525">
            <a:solidFill>
              <a:srgbClr val="24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4370832"/>
            <a:ext cx="374903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50" i="1">
                <a:solidFill>
                  <a:srgbClr val="666666"/>
                </a:solidFill>
                <a:latin typeface="Lato"/>
              </a:defRPr>
            </a:pPr>
            <a:r>
              <a:t>Huella geométrica en radar de los 5 Arquetipos de Manipulación Textual.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347472"/>
            <a:ext cx="7699248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50" b="1">
                <a:solidFill>
                  <a:srgbClr val="666666"/>
                </a:solidFill>
                <a:latin typeface="Lato"/>
              </a:defRPr>
            </a:pPr>
            <a:r>
              <a:t>08. RESULTADO FINAL  |  REPORTE_EXPLICABILIDAD_FORENSE_4_NOTICIAS.MD  •  PÁG. 18/26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530352"/>
            <a:ext cx="76992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50" b="1">
                <a:solidFill>
                  <a:srgbClr val="242222"/>
                </a:solidFill>
                <a:latin typeface="Merriweather"/>
              </a:defRPr>
            </a:pPr>
            <a:r>
              <a:t>8. Resultado Final: Radiografía Forense de las 4 Noticias de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9144000" cy="16459"/>
          </a:xfrm>
          <a:prstGeom prst="rect">
            <a:avLst/>
          </a:prstGeom>
          <a:solidFill>
            <a:srgbClr val="24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0800" y="-85400"/>
            <a:ext cx="2078039" cy="209595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298448"/>
          <a:ext cx="6108192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115568"/>
                <a:gridCol w="1115568"/>
                <a:gridCol w="1115568"/>
                <a:gridCol w="1115568"/>
              </a:tblGrid>
              <a:tr h="382905"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  <a:latin typeface="Merriweather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24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  <a:latin typeface="Merriweather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24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  <a:latin typeface="Merriweather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24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  <a:latin typeface="Merriweather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24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  <a:latin typeface="Merriweather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242222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>
                        <a:defRPr sz="740" b="1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>
                        <a:defRPr sz="740" b="1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E8E6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E8E6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E8E6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E8E6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E8E6E2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>
                        <a:defRPr sz="740" b="1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>
                        <a:defRPr sz="740" b="1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E8E6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E8E6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E8E6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E8E6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E8E6E2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>
                        <a:defRPr sz="740" b="1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>
                        <a:defRPr sz="740" b="1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E8E6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E8E6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E8E6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E8E6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E8E6E2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>
                        <a:defRPr sz="740" b="1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242222"/>
                          </a:solidFill>
                          <a:latin typeface="Lato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fig_radar_iml_4_notic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1325880"/>
            <a:ext cx="2057400" cy="27889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784848" y="1325880"/>
            <a:ext cx="2057400" cy="2788920"/>
          </a:xfrm>
          <a:prstGeom prst="rect">
            <a:avLst/>
          </a:prstGeom>
          <a:noFill/>
          <a:ln w="9525">
            <a:solidFill>
              <a:srgbClr val="24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84848" y="4142232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50" i="1">
                <a:solidFill>
                  <a:srgbClr val="666666"/>
                </a:solidFill>
                <a:latin typeface="Lato"/>
              </a:defRPr>
            </a:pPr>
            <a:r>
              <a:t>Huella IML de las 4 noticias.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347472"/>
            <a:ext cx="7699248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50" b="1">
                <a:solidFill>
                  <a:srgbClr val="666666"/>
                </a:solidFill>
                <a:latin typeface="Lato"/>
              </a:defRPr>
            </a:pPr>
            <a:r>
              <a:t>08. RESULTADO FINAL  |  CONTRASTE EJEMPLAR (CASO 1 VS. CASO 4)  •  PÁG. 19/26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530352"/>
            <a:ext cx="76992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50" b="1">
                <a:solidFill>
                  <a:srgbClr val="242222"/>
                </a:solidFill>
                <a:latin typeface="Merriweather"/>
              </a:defRPr>
            </a:pPr>
            <a:r>
              <a:t>Caso 1 (Bulo Salud COVID) vs. Caso 4 (Divulgación Científica EFE)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9144000" cy="16459"/>
          </a:xfrm>
          <a:prstGeom prst="rect">
            <a:avLst/>
          </a:prstGeom>
          <a:solidFill>
            <a:srgbClr val="24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8402" y="3449200"/>
            <a:ext cx="2698102" cy="17793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1234440"/>
            <a:ext cx="379476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7A1C1C"/>
                </a:solidFill>
                <a:latin typeface="Merriweather"/>
              </a:defRPr>
            </a:pPr>
            <a:r>
              <a:t>Noticia 1: Bulo Vacunas y Cáncer (Falsa — IML 75,7)</a:t>
            </a:r>
          </a:p>
          <a:p>
            <a:pPr>
              <a:spcAft>
                <a:spcPts val="600"/>
              </a:spcAft>
            </a:pPr>
            <a:r>
              <a:rPr sz="819" b="1">
                <a:solidFill>
                  <a:srgbClr val="242222"/>
                </a:solidFill>
                <a:latin typeface="Lato"/>
              </a:rPr>
              <a:t>▪ Frase #1 Gatillo (P = 99,1%): </a:t>
            </a:r>
            <a:r>
              <a:rPr sz="819">
                <a:solidFill>
                  <a:srgbClr val="242222"/>
                </a:solidFill>
                <a:latin typeface="Lato"/>
              </a:rPr>
              <a:t>«Boooomm MUJERES VACUNADAS DE COVID ESTÁN MOSTRANDO EFECTOS SECUNDARIOS TÍPICOS DE CANCER DE MAMA...»</a:t>
            </a:r>
          </a:p>
          <a:p>
            <a:pPr>
              <a:spcAft>
                <a:spcPts val="600"/>
              </a:spcAft>
            </a:pPr>
            <a:r>
              <a:rPr sz="819" b="1">
                <a:solidFill>
                  <a:srgbClr val="242222"/>
                </a:solidFill>
                <a:latin typeface="Lato"/>
              </a:rPr>
              <a:t>▪ Evidencia Forense: </a:t>
            </a:r>
            <a:r>
              <a:rPr sz="819">
                <a:solidFill>
                  <a:srgbClr val="242222"/>
                </a:solidFill>
                <a:latin typeface="Lato"/>
              </a:rPr>
              <a:t>26,3% mayúsculas en Frase #1 (8,73% ALL CAPS global), 0,0% verbos dicendi, 80% pares redundantes y caída contrafáctica ΔP_gatillo = 0,9332 (-93,3%).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71800"/>
            <a:ext cx="379476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E4D3B"/>
                </a:solidFill>
                <a:latin typeface="Merriweather"/>
              </a:defRPr>
            </a:pPr>
            <a:r>
              <a:t>Noticia 4: Colisionador NICA en Rusia (Real EFE — IML 34,6)</a:t>
            </a:r>
          </a:p>
          <a:p>
            <a:pPr>
              <a:spcAft>
                <a:spcPts val="600"/>
              </a:spcAft>
            </a:pPr>
            <a:r>
              <a:rPr sz="819" b="1">
                <a:solidFill>
                  <a:srgbClr val="242222"/>
                </a:solidFill>
                <a:latin typeface="Lato"/>
              </a:rPr>
              <a:t>▪ Frase #1 Gatillo (P = 96,8%): </a:t>
            </a:r>
            <a:r>
              <a:rPr sz="819">
                <a:solidFill>
                  <a:srgbClr val="242222"/>
                </a:solidFill>
                <a:latin typeface="Lato"/>
              </a:rPr>
              <a:t>«Rusia quiere recrear el comienzo del Universo.» (Titular atractivo de agencia, 0,0% mayúsculas).</a:t>
            </a:r>
          </a:p>
          <a:p>
            <a:pPr>
              <a:spcAft>
                <a:spcPts val="600"/>
              </a:spcAft>
            </a:pPr>
            <a:r>
              <a:rPr sz="819" b="1">
                <a:solidFill>
                  <a:srgbClr val="242222"/>
                </a:solidFill>
                <a:latin typeface="Lato"/>
              </a:rPr>
              <a:t>▪ Amortiguación Científica (D3 = 78,8): </a:t>
            </a:r>
            <a:r>
              <a:rPr sz="819">
                <a:solidFill>
                  <a:srgbClr val="242222"/>
                </a:solidFill>
                <a:latin typeface="Lato"/>
              </a:rPr>
              <a:t>El cuerpo técnico (acelerador NICA, instituto JINR, plasma quark-gluón) diluye P_full a 0,2054, con máxima riqueza léxica (hapax = 54,6%) y cohesión D5 = 99,8.</a:t>
            </a:r>
          </a:p>
        </p:txBody>
      </p:sp>
      <p:pic>
        <p:nvPicPr>
          <p:cNvPr id="8" name="Picture 7" descr="fig_trayectoria_sensacionalis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261872"/>
            <a:ext cx="3931920" cy="30632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617720" y="1261872"/>
            <a:ext cx="3931920" cy="3063240"/>
          </a:xfrm>
          <a:prstGeom prst="rect">
            <a:avLst/>
          </a:prstGeom>
          <a:noFill/>
          <a:ln w="9525">
            <a:solidFill>
              <a:srgbClr val="24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4352544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50" i="1">
                <a:solidFill>
                  <a:srgbClr val="666666"/>
                </a:solidFill>
                <a:latin typeface="Lato"/>
              </a:defRPr>
            </a:pPr>
            <a:r>
              <a:t>Trayectoria oracional BETO: ambos textos abren en &gt;96%, pero EFE amortigua el cuerpo.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347472"/>
            <a:ext cx="7699248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50" b="1">
                <a:solidFill>
                  <a:srgbClr val="666666"/>
                </a:solidFill>
                <a:latin typeface="Lato"/>
              </a:defRPr>
            </a:pPr>
            <a:r>
              <a:t>08. RESULTADO FINAL  |  CONTRASTE EJEMPLAR (CASO 2 VS. CASO 3)  •  PÁG. 20/26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530352"/>
            <a:ext cx="76992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50" b="1">
                <a:solidFill>
                  <a:srgbClr val="242222"/>
                </a:solidFill>
                <a:latin typeface="Merriweather"/>
              </a:defRPr>
            </a:pPr>
            <a:r>
              <a:t>Caso 2 (Conspiración Redes) vs. Caso 3 (Prensa Oficial Puebla)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9144000" cy="16459"/>
          </a:xfrm>
          <a:prstGeom prst="rect">
            <a:avLst/>
          </a:prstGeom>
          <a:solidFill>
            <a:srgbClr val="24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4097" y="-46312"/>
            <a:ext cx="2815004" cy="14386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1234440"/>
            <a:ext cx="379476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7A1C1C"/>
                </a:solidFill>
                <a:latin typeface="Merriweather"/>
              </a:defRPr>
            </a:pPr>
            <a:r>
              <a:t>Noticia 2: Conspiración 'Coronacirco' (Falsa — IML 63,0)</a:t>
            </a:r>
          </a:p>
          <a:p>
            <a:pPr>
              <a:spcAft>
                <a:spcPts val="600"/>
              </a:spcAft>
            </a:pPr>
            <a:r>
              <a:rPr sz="819" b="1">
                <a:solidFill>
                  <a:srgbClr val="242222"/>
                </a:solidFill>
                <a:latin typeface="Lato"/>
              </a:rPr>
              <a:t>▪ Pánico Sostenido (P_full = 99,4%): </a:t>
            </a:r>
            <a:r>
              <a:rPr sz="819">
                <a:solidFill>
                  <a:srgbClr val="242222"/>
                </a:solidFill>
                <a:latin typeface="Lato"/>
              </a:rPr>
              <a:t>«...llevamos un año de coronacirco y epidemia de miedo... nos están usando como conejillos de indias».</a:t>
            </a:r>
          </a:p>
          <a:p>
            <a:pPr>
              <a:spcAft>
                <a:spcPts val="600"/>
              </a:spcAft>
            </a:pPr>
            <a:r>
              <a:rPr sz="819" b="1">
                <a:solidFill>
                  <a:srgbClr val="242222"/>
                </a:solidFill>
                <a:latin typeface="Lato"/>
              </a:rPr>
              <a:t>▪ Huella Morfosintáctica (Estilo IV): </a:t>
            </a:r>
            <a:r>
              <a:rPr sz="819">
                <a:solidFill>
                  <a:srgbClr val="242222"/>
                </a:solidFill>
                <a:latin typeface="Lato"/>
              </a:rPr>
              <a:t>Récord de adverbios valorativos (8,49% global; 16,67% en Frase #2), 1.ª persona plural (1,89%) y discurso roto (D5 = 41,0, consec_sim_min = 0,038).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71800"/>
            <a:ext cx="379476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E4D3B"/>
                </a:solidFill>
                <a:latin typeface="Merriweather"/>
              </a:defRPr>
            </a:pPr>
            <a:r>
              <a:t>Noticia 3: Boletín Salud Puebla (Real — IML 25,6)</a:t>
            </a:r>
          </a:p>
          <a:p>
            <a:pPr>
              <a:spcAft>
                <a:spcPts val="600"/>
              </a:spcAft>
            </a:pPr>
            <a:r>
              <a:rPr sz="819" b="1">
                <a:solidFill>
                  <a:srgbClr val="242222"/>
                </a:solidFill>
                <a:latin typeface="Lato"/>
              </a:rPr>
              <a:t>▪ Sobriedad Oficial (P_full = 0,3%): </a:t>
            </a:r>
            <a:r>
              <a:rPr sz="819">
                <a:solidFill>
                  <a:srgbClr val="242222"/>
                </a:solidFill>
                <a:latin typeface="Lato"/>
              </a:rPr>
              <a:t>Pico aislado en Frase #7 («En la capital y zona metropolitana es rojo», P = 53,7%) amortiguado al 99,4% (D3).</a:t>
            </a:r>
          </a:p>
          <a:p>
            <a:pPr>
              <a:spcAft>
                <a:spcPts val="600"/>
              </a:spcAft>
            </a:pPr>
            <a:r>
              <a:rPr sz="819" b="1">
                <a:solidFill>
                  <a:srgbClr val="242222"/>
                </a:solidFill>
                <a:latin typeface="Lato"/>
              </a:rPr>
              <a:t>▪ Anclaje y Verbos Dicendi: </a:t>
            </a:r>
            <a:r>
              <a:rPr sz="819">
                <a:solidFill>
                  <a:srgbClr val="242222"/>
                </a:solidFill>
                <a:latin typeface="Lato"/>
              </a:rPr>
              <a:t>2,31% de verbos de atribución ('anunció', 'indicó' el gobernador y el secretario de salud) y 4,17% de cifras verificables ('353 casos', '25 de enero').</a:t>
            </a:r>
          </a:p>
        </p:txBody>
      </p:sp>
      <p:pic>
        <p:nvPicPr>
          <p:cNvPr id="8" name="Picture 7" descr="fig_mapas_calor_redundanc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261872"/>
            <a:ext cx="3931920" cy="30632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617720" y="1261872"/>
            <a:ext cx="3931920" cy="3063240"/>
          </a:xfrm>
          <a:prstGeom prst="rect">
            <a:avLst/>
          </a:prstGeom>
          <a:noFill/>
          <a:ln w="9525">
            <a:solidFill>
              <a:srgbClr val="24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4352544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50" i="1">
                <a:solidFill>
                  <a:srgbClr val="666666"/>
                </a:solidFill>
                <a:latin typeface="Lato"/>
              </a:defRPr>
            </a:pPr>
            <a:r>
              <a:t>Mapas de calor SBERT (τ = 0,34): Bucle en Caso 1 (80%) vs. desconexión en Caso 2 (10%).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347472"/>
            <a:ext cx="7699248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50" b="1">
                <a:solidFill>
                  <a:srgbClr val="666666"/>
                </a:solidFill>
                <a:latin typeface="Lato"/>
              </a:defRPr>
            </a:pPr>
            <a:r>
              <a:t>08. RESULTADO FINAL  |  SÍNTESIS VISUAL DE LOS 4 CASOS  •  PÁG. 21/26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530352"/>
            <a:ext cx="76992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50" b="1">
                <a:solidFill>
                  <a:srgbClr val="242222"/>
                </a:solidFill>
                <a:latin typeface="Merriweather"/>
              </a:defRPr>
            </a:pPr>
            <a:r>
              <a:t>Radiografía Comparativa de Variables Clave en las 4 Noticias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9144000" cy="16459"/>
          </a:xfrm>
          <a:prstGeom prst="rect">
            <a:avLst/>
          </a:prstGeom>
          <a:solidFill>
            <a:srgbClr val="24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0800" y="-85400"/>
            <a:ext cx="2078039" cy="2095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376" y="1298448"/>
            <a:ext cx="3337560" cy="3246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2222"/>
                </a:solidFill>
                <a:latin typeface="Merriweather"/>
              </a:defRPr>
            </a:pPr>
            <a:r>
              <a:t>4 Conclusiones de los Casos de Control</a:t>
            </a:r>
          </a:p>
          <a:p>
            <a:pPr>
              <a:spcAft>
                <a:spcPts val="600"/>
              </a:spcAft>
            </a:pPr>
            <a:r>
              <a:rPr sz="869" b="1">
                <a:solidFill>
                  <a:srgbClr val="242222"/>
                </a:solidFill>
                <a:latin typeface="Lato"/>
              </a:rPr>
              <a:t>▪ 1. Asimetría en Mayúsculas (D5): </a:t>
            </a:r>
            <a:r>
              <a:rPr sz="869">
                <a:solidFill>
                  <a:srgbClr val="242222"/>
                </a:solidFill>
                <a:latin typeface="Lato"/>
              </a:rPr>
              <a:t>8,73% de palabras en MAYÚSCULAS en el Bulo COVID vs. 0,0% en la nota oficial de Puebla.</a:t>
            </a:r>
          </a:p>
          <a:p>
            <a:pPr>
              <a:spcAft>
                <a:spcPts val="600"/>
              </a:spcAft>
            </a:pPr>
            <a:r>
              <a:rPr sz="869" b="1">
                <a:solidFill>
                  <a:srgbClr val="242222"/>
                </a:solidFill>
                <a:latin typeface="Lato"/>
              </a:rPr>
              <a:t>▪ 2. Huella de Verbos Dicendi (D2): </a:t>
            </a:r>
            <a:r>
              <a:rPr sz="869">
                <a:solidFill>
                  <a:srgbClr val="242222"/>
                </a:solidFill>
                <a:latin typeface="Lato"/>
              </a:rPr>
              <a:t>2,31% en prensa institucional verificable frente a 0,0% estricto en ambos bulos.</a:t>
            </a:r>
          </a:p>
          <a:p>
            <a:pPr>
              <a:spcAft>
                <a:spcPts val="600"/>
              </a:spcAft>
            </a:pPr>
            <a:r>
              <a:rPr sz="869" b="1">
                <a:solidFill>
                  <a:srgbClr val="242222"/>
                </a:solidFill>
                <a:latin typeface="Lato"/>
              </a:rPr>
              <a:t>▪ 3. Saturación Adverbial (D4): </a:t>
            </a:r>
            <a:r>
              <a:rPr sz="869">
                <a:solidFill>
                  <a:srgbClr val="242222"/>
                </a:solidFill>
                <a:latin typeface="Lato"/>
              </a:rPr>
              <a:t>Los bulos triplican o quintuplican la densidad de adverbios modales respecto a las notas reales.</a:t>
            </a:r>
          </a:p>
          <a:p>
            <a:pPr>
              <a:spcAft>
                <a:spcPts val="600"/>
              </a:spcAft>
            </a:pPr>
            <a:r>
              <a:rPr sz="869" b="1">
                <a:solidFill>
                  <a:srgbClr val="242222"/>
                </a:solidFill>
                <a:latin typeface="Lato"/>
              </a:rPr>
              <a:t>▪ 4. Transición a Clasificación: </a:t>
            </a:r>
            <a:r>
              <a:rPr sz="869">
                <a:solidFill>
                  <a:srgbClr val="242222"/>
                </a:solidFill>
                <a:latin typeface="Lato"/>
              </a:rPr>
              <a:t>Estas diferencias objetivas motivan entrenar el Modelo Ensamble Adaptativo 5D.</a:t>
            </a:r>
          </a:p>
        </p:txBody>
      </p:sp>
      <p:pic>
        <p:nvPicPr>
          <p:cNvPr id="7" name="Picture 6" descr="fig_comparativa_variables_cla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261872"/>
            <a:ext cx="4251960" cy="30632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206240" y="1261872"/>
            <a:ext cx="4251960" cy="3063240"/>
          </a:xfrm>
          <a:prstGeom prst="rect">
            <a:avLst/>
          </a:prstGeom>
          <a:noFill/>
          <a:ln w="9525">
            <a:solidFill>
              <a:srgbClr val="24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4352544"/>
            <a:ext cx="4251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50" i="1">
                <a:solidFill>
                  <a:srgbClr val="666666"/>
                </a:solidFill>
                <a:latin typeface="Lato"/>
              </a:defRPr>
            </a:pPr>
            <a:r>
              <a:t>Contraste directo de sensacionalismo, redundancia, adverbios, mayúsculas y verbos dicendi.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347472"/>
            <a:ext cx="7699248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50" b="1">
                <a:solidFill>
                  <a:srgbClr val="666666"/>
                </a:solidFill>
                <a:latin typeface="Lato"/>
              </a:defRPr>
            </a:pPr>
            <a:r>
              <a:t>08. RESULTADO FINAL  |  REPORTE_ENSAMBLE_ADAPTATIVO_FAKENEWS.MD  •  PÁG. 22/26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530352"/>
            <a:ext cx="76992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50" b="1">
                <a:solidFill>
                  <a:srgbClr val="242222"/>
                </a:solidFill>
                <a:latin typeface="Merriweather"/>
              </a:defRPr>
            </a:pPr>
            <a:r>
              <a:t>Modelo Ensamble Adaptativo 5D (42 Vars) vs. SaBERT en LatAm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9144000" cy="16459"/>
          </a:xfrm>
          <a:prstGeom prst="rect">
            <a:avLst/>
          </a:prstGeom>
          <a:solidFill>
            <a:srgbClr val="24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8014" y="-85400"/>
            <a:ext cx="3178132" cy="2095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376" y="1234440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1E4D3B"/>
                </a:solidFill>
                <a:latin typeface="Merriweather"/>
              </a:defRPr>
            </a:pPr>
            <a:r>
              <a:t>68,36%</a:t>
            </a:r>
          </a:p>
          <a:p>
            <a:pPr>
              <a:defRPr sz="850" b="1">
                <a:solidFill>
                  <a:srgbClr val="666666"/>
                </a:solidFill>
                <a:latin typeface="Lato"/>
              </a:defRPr>
            </a:pPr>
            <a:r>
              <a:t>Exactitud LatAm (Supera SaBERT 65,89%)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234440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7A1C1C"/>
                </a:solidFill>
                <a:latin typeface="Merriweather"/>
              </a:defRPr>
            </a:pPr>
            <a:r>
              <a:t>62,16%</a:t>
            </a:r>
          </a:p>
          <a:p>
            <a:pPr>
              <a:defRPr sz="850" b="1">
                <a:solidFill>
                  <a:srgbClr val="666666"/>
                </a:solidFill>
                <a:latin typeface="Lato"/>
              </a:defRPr>
            </a:pPr>
            <a:r>
              <a:t>Recall Fake LatAm (Duplica SaBERT 31,3%)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084831"/>
            <a:ext cx="3566160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2222"/>
                </a:solidFill>
                <a:latin typeface="Merriweather"/>
              </a:defRPr>
            </a:pPr>
            <a:r>
              <a:t>Superioridad e Invarianza Territorial</a:t>
            </a:r>
          </a:p>
          <a:p>
            <a:pPr>
              <a:spcAft>
                <a:spcPts val="600"/>
              </a:spcAft>
            </a:pPr>
            <a:r>
              <a:rPr sz="860" b="1">
                <a:solidFill>
                  <a:srgbClr val="242222"/>
                </a:solidFill>
                <a:latin typeface="Lato"/>
              </a:rPr>
              <a:t>▪ Salto sobre Ensamble Base: </a:t>
            </a:r>
            <a:r>
              <a:rPr sz="860">
                <a:solidFill>
                  <a:srgbClr val="242222"/>
                </a:solidFill>
                <a:latin typeface="Lato"/>
              </a:rPr>
              <a:t>ROC-AUC sube de 0,6568 a 0,7178 (+6,10 pp) y PR-AUC de 0,6213 a 0,7038 (+8,25 pp).</a:t>
            </a:r>
          </a:p>
          <a:p>
            <a:pPr>
              <a:spcAft>
                <a:spcPts val="600"/>
              </a:spcAft>
            </a:pPr>
            <a:r>
              <a:rPr sz="860" b="1">
                <a:solidFill>
                  <a:srgbClr val="242222"/>
                </a:solidFill>
                <a:latin typeface="Lato"/>
              </a:rPr>
              <a:t>▪ Inmune al Domain Shift: </a:t>
            </a:r>
            <a:r>
              <a:rPr sz="860">
                <a:solidFill>
                  <a:srgbClr val="242222"/>
                </a:solidFill>
                <a:latin typeface="Lato"/>
              </a:rPr>
              <a:t>Entrenado con GBDT (140 árboles) sobre 42 variables numéricas sin nombres propios ni entidades locales.</a:t>
            </a:r>
          </a:p>
          <a:p>
            <a:pPr>
              <a:spcAft>
                <a:spcPts val="600"/>
              </a:spcAft>
            </a:pPr>
            <a:r>
              <a:rPr sz="860" b="1">
                <a:solidFill>
                  <a:srgbClr val="242222"/>
                </a:solidFill>
                <a:latin typeface="Lato"/>
              </a:rPr>
              <a:t>▪ Rescate de Bulos (θ* = 0,42): </a:t>
            </a:r>
            <a:r>
              <a:rPr sz="860">
                <a:solidFill>
                  <a:srgbClr val="242222"/>
                </a:solidFill>
                <a:latin typeface="Lato"/>
              </a:rPr>
              <a:t>El umbral bayesiano de Youden rescata 283 bulos en Latinoamérica (reduce FN de 630 a 347).</a:t>
            </a:r>
          </a:p>
        </p:txBody>
      </p:sp>
      <p:pic>
        <p:nvPicPr>
          <p:cNvPr id="9" name="Picture 8" descr="comparativa_rendimiento_espana_vs_latam_ensam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1234440"/>
            <a:ext cx="4050791" cy="157276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407408" y="1234440"/>
            <a:ext cx="4050791" cy="1572768"/>
          </a:xfrm>
          <a:prstGeom prst="rect">
            <a:avLst/>
          </a:prstGeom>
          <a:noFill/>
          <a:ln w="9525">
            <a:solidFill>
              <a:srgbClr val="24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8" y="2834639"/>
            <a:ext cx="405079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50" i="1">
                <a:solidFill>
                  <a:srgbClr val="666666"/>
                </a:solidFill>
                <a:latin typeface="Lato"/>
              </a:defRPr>
            </a:pPr>
            <a:r>
              <a:t>Estabilidad del Ensamble 5D frente al desplome de SaBERT en América Latina.</a:t>
            </a:r>
          </a:p>
        </p:txBody>
      </p:sp>
      <p:pic>
        <p:nvPicPr>
          <p:cNvPr id="12" name="Picture 11" descr="curva_optimizacion_umbral_recall_preci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08" y="2999232"/>
            <a:ext cx="4050791" cy="15087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407408" y="2999232"/>
            <a:ext cx="4050791" cy="1508760"/>
          </a:xfrm>
          <a:prstGeom prst="rect">
            <a:avLst/>
          </a:prstGeom>
          <a:noFill/>
          <a:ln w="9525">
            <a:solidFill>
              <a:srgbClr val="24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4535424"/>
            <a:ext cx="405079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50" i="1">
                <a:solidFill>
                  <a:srgbClr val="666666"/>
                </a:solidFill>
                <a:latin typeface="Lato"/>
              </a:defRPr>
            </a:pPr>
            <a:r>
              <a:t>Optimización bayesiana del umbral de Youden (θ* = 0,42, Recall Global = 70,05%).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347472"/>
            <a:ext cx="7699248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50" b="1">
                <a:solidFill>
                  <a:srgbClr val="666666"/>
                </a:solidFill>
                <a:latin typeface="Lato"/>
              </a:defRPr>
            </a:pPr>
            <a:r>
              <a:t>08. RESULTADO FINAL  |  IMPORTANCIA GINI/SHAP Y ARQUETIPOS  •  PÁG. 23/26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530352"/>
            <a:ext cx="76992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50" b="1">
                <a:solidFill>
                  <a:srgbClr val="242222"/>
                </a:solidFill>
                <a:latin typeface="Merriweather"/>
              </a:defRPr>
            </a:pPr>
            <a:r>
              <a:t>Variables Más Discriminativas y Tasa de Bulos por Arquetipo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9144000" cy="16459"/>
          </a:xfrm>
          <a:prstGeom prst="rect">
            <a:avLst/>
          </a:prstGeom>
          <a:solidFill>
            <a:srgbClr val="24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8402" y="3449200"/>
            <a:ext cx="2698102" cy="17793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376" y="1261872"/>
            <a:ext cx="3429000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2222"/>
                </a:solidFill>
                <a:latin typeface="Merriweather"/>
              </a:defRPr>
            </a:pPr>
            <a:r>
              <a:t>¿Qué Variables Mandan en el Clasificador?</a:t>
            </a:r>
          </a:p>
          <a:p>
            <a:pPr>
              <a:spcAft>
                <a:spcPts val="600"/>
              </a:spcAft>
            </a:pPr>
            <a:r>
              <a:rPr sz="840" b="1">
                <a:solidFill>
                  <a:srgbClr val="242222"/>
                </a:solidFill>
                <a:latin typeface="Lato"/>
              </a:rPr>
              <a:t>▪ Peso por Dimensión: </a:t>
            </a:r>
            <a:r>
              <a:rPr sz="840">
                <a:solidFill>
                  <a:srgbClr val="242222"/>
                </a:solidFill>
                <a:latin typeface="Lato"/>
              </a:rPr>
              <a:t>D0 Sensacionalismo/Redundancia (31,1%), D5 Mayúsculas/Anclajes (24,1%), D3 Léxica (19,3%), D4 POS (14,8%), D2 Epistémica (6,6%), D1 Flujo (4,1%).</a:t>
            </a:r>
          </a:p>
          <a:p>
            <a:pPr>
              <a:spcAft>
                <a:spcPts val="600"/>
              </a:spcAft>
            </a:pPr>
            <a:r>
              <a:rPr sz="840" b="1">
                <a:solidFill>
                  <a:srgbClr val="242222"/>
                </a:solidFill>
                <a:latin typeface="Lato"/>
              </a:rPr>
              <a:t>▪ Top 1: adv_density (8,41%): </a:t>
            </a:r>
            <a:r>
              <a:rPr sz="840">
                <a:solidFill>
                  <a:srgbClr val="242222"/>
                </a:solidFill>
                <a:latin typeface="Lato"/>
              </a:rPr>
              <a:t>La saturación de adverbios valorativos ('claramente', 'obviamente') es el mayor predictor individual.</a:t>
            </a:r>
          </a:p>
          <a:p>
            <a:pPr>
              <a:spcAft>
                <a:spcPts val="600"/>
              </a:spcAft>
            </a:pPr>
            <a:r>
              <a:rPr sz="840" b="1">
                <a:solidFill>
                  <a:srgbClr val="242222"/>
                </a:solidFill>
                <a:latin typeface="Lato"/>
              </a:rPr>
              <a:t>▪ Top 2 y 3: Mayúsculas (14,45%): </a:t>
            </a:r>
            <a:r>
              <a:rPr sz="840">
                <a:solidFill>
                  <a:srgbClr val="242222"/>
                </a:solidFill>
                <a:latin typeface="Lato"/>
              </a:rPr>
              <a:t>upper_chars_ratio (7,49%) + all_caps_ratio (6,96%) suman casi el 15% del poder total.</a:t>
            </a:r>
          </a:p>
          <a:p>
            <a:pPr>
              <a:spcAft>
                <a:spcPts val="600"/>
              </a:spcAft>
            </a:pPr>
            <a:r>
              <a:rPr sz="840" b="1">
                <a:solidFill>
                  <a:srgbClr val="242222"/>
                </a:solidFill>
                <a:latin typeface="Lato"/>
              </a:rPr>
              <a:t>▪ Paradoja 1 Demostrada: </a:t>
            </a:r>
            <a:r>
              <a:rPr sz="840">
                <a:solidFill>
                  <a:srgbClr val="242222"/>
                </a:solidFill>
                <a:latin typeface="Lato"/>
              </a:rPr>
              <a:t>El Estilo III (Propaganda Sobria) tiene IML bajo (21,2) pero 70,2% de Fake News.</a:t>
            </a:r>
          </a:p>
        </p:txBody>
      </p:sp>
      <p:pic>
        <p:nvPicPr>
          <p:cNvPr id="7" name="Picture 6" descr="importancia_features_5_dimensi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234440"/>
            <a:ext cx="4160520" cy="1600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297680" y="1234440"/>
            <a:ext cx="4160520" cy="1600200"/>
          </a:xfrm>
          <a:prstGeom prst="rect">
            <a:avLst/>
          </a:prstGeom>
          <a:noFill/>
          <a:ln w="9525">
            <a:solidFill>
              <a:srgbClr val="24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2862072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50" i="1">
                <a:solidFill>
                  <a:srgbClr val="666666"/>
                </a:solidFill>
                <a:latin typeface="Lato"/>
              </a:defRPr>
            </a:pPr>
            <a:r>
              <a:t>Peso predictivo por dimensión y Top variables en el Ensamble 5D.</a:t>
            </a:r>
          </a:p>
        </p:txBody>
      </p:sp>
      <p:pic>
        <p:nvPicPr>
          <p:cNvPr id="10" name="Picture 9" descr="fig5_tasa_fakenews_por_arqueti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3017520"/>
            <a:ext cx="4160520" cy="148132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297680" y="3017520"/>
            <a:ext cx="4160520" cy="1481328"/>
          </a:xfrm>
          <a:prstGeom prst="rect">
            <a:avLst/>
          </a:prstGeom>
          <a:noFill/>
          <a:ln w="9525">
            <a:solidFill>
              <a:srgbClr val="24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4526280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50" i="1">
                <a:solidFill>
                  <a:srgbClr val="666666"/>
                </a:solidFill>
                <a:latin typeface="Lato"/>
              </a:defRPr>
            </a:pPr>
            <a:r>
              <a:t>Tasa empírica de noticias falsas y reales en los 5 Arquetipos Discursivos.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347472"/>
            <a:ext cx="7699248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50" b="1">
                <a:solidFill>
                  <a:srgbClr val="666666"/>
                </a:solidFill>
                <a:latin typeface="Lato"/>
              </a:defRPr>
            </a:pPr>
            <a:r>
              <a:t>09. CONCLUSIONES  |  CAPÍTULO 6  •  PÁG. 24/26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530352"/>
            <a:ext cx="76992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50" b="1">
                <a:solidFill>
                  <a:srgbClr val="242222"/>
                </a:solidFill>
                <a:latin typeface="Merriweather"/>
              </a:defRPr>
            </a:pPr>
            <a:r>
              <a:t>9. Conclusiones Principales: «No Basta con Leer la Noticia»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9144000" cy="16459"/>
          </a:xfrm>
          <a:prstGeom prst="rect">
            <a:avLst/>
          </a:prstGeom>
          <a:solidFill>
            <a:srgbClr val="24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8402" y="3449200"/>
            <a:ext cx="2698102" cy="17793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298448"/>
            <a:ext cx="2468880" cy="3246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7A1C1C"/>
                </a:solidFill>
                <a:latin typeface="Merriweather"/>
              </a:defRPr>
            </a:pPr>
            <a:r>
              <a:t>1. Límites del Texto Aislado</a:t>
            </a:r>
          </a:p>
          <a:p>
            <a:pPr>
              <a:spcAft>
                <a:spcPts val="600"/>
              </a:spcAft>
            </a:pPr>
            <a:r>
              <a:rPr sz="880" b="1">
                <a:solidFill>
                  <a:srgbClr val="242222"/>
                </a:solidFill>
                <a:latin typeface="Lato"/>
              </a:rPr>
              <a:t>▪ No basta con leer la noticia: </a:t>
            </a:r>
            <a:r>
              <a:rPr sz="880">
                <a:solidFill>
                  <a:srgbClr val="242222"/>
                </a:solidFill>
                <a:latin typeface="Lato"/>
              </a:rPr>
              <a:t>La verdad factual es extrínseca al texto; la estilometría audita manipulación, no hechos físicos.</a:t>
            </a:r>
          </a:p>
          <a:p>
            <a:pPr>
              <a:spcAft>
                <a:spcPts val="600"/>
              </a:spcAft>
            </a:pPr>
            <a:r>
              <a:rPr sz="880" b="1">
                <a:solidFill>
                  <a:srgbClr val="242222"/>
                </a:solidFill>
                <a:latin typeface="Lato"/>
              </a:rPr>
              <a:t>▪ Techo de Cristal (Estilo III): </a:t>
            </a:r>
            <a:r>
              <a:rPr sz="880">
                <a:solidFill>
                  <a:srgbClr val="242222"/>
                </a:solidFill>
                <a:latin typeface="Lato"/>
              </a:rPr>
              <a:t>La propaganda sobria imita la neutralidad de agencias y exige verificación factual externa.</a:t>
            </a:r>
          </a:p>
        </p:txBody>
      </p:sp>
      <p:sp>
        <p:nvSpPr>
          <p:cNvPr id="7" name="Rectangle 6"/>
          <p:cNvSpPr/>
          <p:nvPr/>
        </p:nvSpPr>
        <p:spPr>
          <a:xfrm>
            <a:off x="3364992" y="1298448"/>
            <a:ext cx="10972" cy="315468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93008" y="1298448"/>
            <a:ext cx="2468880" cy="3246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2222"/>
                </a:solidFill>
                <a:latin typeface="Merriweather"/>
              </a:defRPr>
            </a:pPr>
            <a:r>
              <a:t>2. MexGen Supera a XAI Post-Hoc</a:t>
            </a:r>
          </a:p>
          <a:p>
            <a:pPr>
              <a:spcAft>
                <a:spcPts val="600"/>
              </a:spcAft>
            </a:pPr>
            <a:r>
              <a:rPr sz="880" b="1">
                <a:solidFill>
                  <a:srgbClr val="242222"/>
                </a:solidFill>
                <a:latin typeface="Lato"/>
              </a:rPr>
              <a:t>▪ De Subpalabras a Cláusulas: </a:t>
            </a:r>
            <a:r>
              <a:rPr sz="880">
                <a:solidFill>
                  <a:srgbClr val="242222"/>
                </a:solidFill>
                <a:latin typeface="Lato"/>
              </a:rPr>
              <a:t>Reemplaza mapas WordPiece ruidosos por ablación de cláusulas completas y matrices SBERT.</a:t>
            </a:r>
          </a:p>
          <a:p>
            <a:pPr>
              <a:spcAft>
                <a:spcPts val="600"/>
              </a:spcAft>
            </a:pPr>
            <a:r>
              <a:rPr sz="880" b="1">
                <a:solidFill>
                  <a:srgbClr val="242222"/>
                </a:solidFill>
                <a:latin typeface="Lato"/>
              </a:rPr>
              <a:t>▪ Eficiencia en Tiempo Real: </a:t>
            </a:r>
            <a:r>
              <a:rPr sz="880">
                <a:solidFill>
                  <a:srgbClr val="242222"/>
                </a:solidFill>
                <a:latin typeface="Lato"/>
              </a:rPr>
              <a:t>Extrae la ficha forense en &lt;50 ms sobre CPU, sin inducir censura binaria opaca.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298448"/>
            <a:ext cx="10972" cy="315468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298448"/>
            <a:ext cx="2331720" cy="3246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E4D3B"/>
                </a:solidFill>
                <a:latin typeface="Merriweather"/>
              </a:defRPr>
            </a:pPr>
            <a:r>
              <a:t>3. Robustez del Ensamble 5D</a:t>
            </a:r>
          </a:p>
          <a:p>
            <a:pPr>
              <a:spcAft>
                <a:spcPts val="600"/>
              </a:spcAft>
            </a:pPr>
            <a:r>
              <a:rPr sz="880" b="1">
                <a:solidFill>
                  <a:srgbClr val="242222"/>
                </a:solidFill>
                <a:latin typeface="Lato"/>
              </a:rPr>
              <a:t>▪ Invarianza Transatlántica: </a:t>
            </a:r>
            <a:r>
              <a:rPr sz="880">
                <a:solidFill>
                  <a:srgbClr val="242222"/>
                </a:solidFill>
                <a:latin typeface="Lato"/>
              </a:rPr>
              <a:t>Supera a SaBERT en América Latina en exactitud (68,36% vs 65,89%) y ROC-AUC (0,7162 vs 0,6800).</a:t>
            </a:r>
          </a:p>
          <a:p>
            <a:pPr>
              <a:spcAft>
                <a:spcPts val="600"/>
              </a:spcAft>
            </a:pPr>
            <a:r>
              <a:rPr sz="880" b="1">
                <a:solidFill>
                  <a:srgbClr val="242222"/>
                </a:solidFill>
                <a:latin typeface="Lato"/>
              </a:rPr>
              <a:t>▪ Doble Sensibilidad: </a:t>
            </a:r>
            <a:r>
              <a:rPr sz="880">
                <a:solidFill>
                  <a:srgbClr val="242222"/>
                </a:solidFill>
                <a:latin typeface="Lato"/>
              </a:rPr>
              <a:t>Duplica la captura de bulos en LatAm (62,16% vs 31,30%) con θ* = 0,42.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347472"/>
            <a:ext cx="7699248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50" b="1">
                <a:solidFill>
                  <a:srgbClr val="666666"/>
                </a:solidFill>
                <a:latin typeface="Lato"/>
              </a:defRPr>
            </a:pPr>
            <a:r>
              <a:t>09. CONCLUSIONES Y RECOMENDACIONES  |  SECCIÓN 5.5.2 Y 6.3  •  PÁG. 25/26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530352"/>
            <a:ext cx="76992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50" b="1">
                <a:solidFill>
                  <a:srgbClr val="242222"/>
                </a:solidFill>
                <a:latin typeface="Merriweather"/>
              </a:defRPr>
            </a:pPr>
            <a:r>
              <a:t>Recomendación: Arquitectura Híbrida en Cascada (Ensamble 5D + RAG)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9144000" cy="16459"/>
          </a:xfrm>
          <a:prstGeom prst="rect">
            <a:avLst/>
          </a:prstGeom>
          <a:solidFill>
            <a:srgbClr val="24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0800" y="-85400"/>
            <a:ext cx="2078039" cy="2095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325880"/>
            <a:ext cx="2423160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2222"/>
                </a:solidFill>
                <a:latin typeface="Merriweather"/>
              </a:defRPr>
            </a:pPr>
            <a:r>
              <a:t>NIVEL 1: Tamiz Forense (&lt; 50 ms)</a:t>
            </a:r>
          </a:p>
          <a:p>
            <a:pPr>
              <a:spcAft>
                <a:spcPts val="600"/>
              </a:spcAft>
            </a:pPr>
            <a:r>
              <a:rPr sz="880" b="1">
                <a:solidFill>
                  <a:srgbClr val="242222"/>
                </a:solidFill>
                <a:latin typeface="Lato"/>
              </a:rPr>
              <a:t>▪ Extracción en Frío (42 Vars): </a:t>
            </a:r>
            <a:r>
              <a:rPr sz="880">
                <a:solidFill>
                  <a:srgbClr val="242222"/>
                </a:solidFill>
                <a:latin typeface="Lato"/>
              </a:rPr>
              <a:t>BETO, SBERT, spaCy y Regex evalúan el texto al instante en CPU.</a:t>
            </a:r>
          </a:p>
          <a:p>
            <a:pPr>
              <a:spcAft>
                <a:spcPts val="600"/>
              </a:spcAft>
            </a:pPr>
            <a:r>
              <a:rPr sz="880" b="1">
                <a:solidFill>
                  <a:srgbClr val="242222"/>
                </a:solidFill>
                <a:latin typeface="Lato"/>
              </a:rPr>
              <a:t>▪ Diagnóstico IML + GBDT: </a:t>
            </a:r>
            <a:r>
              <a:rPr sz="880">
                <a:solidFill>
                  <a:srgbClr val="242222"/>
                </a:solidFill>
                <a:latin typeface="Lato"/>
              </a:rPr>
              <a:t>Entrega puntuación en las 5 dimensiones, Arquetipo (I a V) y probabilidad P(Fake).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325880"/>
            <a:ext cx="10972" cy="25146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325880"/>
            <a:ext cx="2423160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E4D3B"/>
                </a:solidFill>
                <a:latin typeface="Merriweather"/>
              </a:defRPr>
            </a:pPr>
            <a:r>
              <a:t>RUTA RÁPIDA: Alta Certeza</a:t>
            </a:r>
          </a:p>
          <a:p>
            <a:pPr>
              <a:spcAft>
                <a:spcPts val="600"/>
              </a:spcAft>
            </a:pPr>
            <a:r>
              <a:rPr sz="880" b="1">
                <a:solidFill>
                  <a:srgbClr val="242222"/>
                </a:solidFill>
                <a:latin typeface="Lato"/>
              </a:rPr>
              <a:t>▪ Criterio de Decisión: </a:t>
            </a:r>
            <a:r>
              <a:rPr sz="880">
                <a:solidFill>
                  <a:srgbClr val="242222"/>
                </a:solidFill>
                <a:latin typeface="Lato"/>
              </a:rPr>
              <a:t>P(Fake) &gt;= 0,75 ó P(Fake) &lt;= 0,25 y Arquetipo != Estilo III.</a:t>
            </a:r>
          </a:p>
          <a:p>
            <a:pPr>
              <a:spcAft>
                <a:spcPts val="600"/>
              </a:spcAft>
            </a:pPr>
            <a:r>
              <a:rPr sz="880" b="1">
                <a:solidFill>
                  <a:srgbClr val="242222"/>
                </a:solidFill>
                <a:latin typeface="Lato"/>
              </a:rPr>
              <a:t>▪ Ahorro Computacional: </a:t>
            </a:r>
            <a:r>
              <a:rPr sz="880">
                <a:solidFill>
                  <a:srgbClr val="242222"/>
                </a:solidFill>
                <a:latin typeface="Lato"/>
              </a:rPr>
              <a:t>Filtra ~70% del volumen (Amarillismo Estilo I o Prensa Equilibrada Estilo V) sin consultar APIs externas.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325880"/>
            <a:ext cx="10972" cy="25146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325880"/>
            <a:ext cx="2377440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7A1C1C"/>
                </a:solidFill>
                <a:latin typeface="Merriweather"/>
              </a:defRPr>
            </a:pPr>
            <a:r>
              <a:t>NIVEL 2: Verificación RAG + KG</a:t>
            </a:r>
          </a:p>
          <a:p>
            <a:pPr>
              <a:spcAft>
                <a:spcPts val="600"/>
              </a:spcAft>
            </a:pPr>
            <a:r>
              <a:rPr sz="880" b="1">
                <a:solidFill>
                  <a:srgbClr val="242222"/>
                </a:solidFill>
                <a:latin typeface="Lato"/>
              </a:rPr>
              <a:t>▪ Activación Selectiva: </a:t>
            </a:r>
            <a:r>
              <a:rPr sz="880">
                <a:solidFill>
                  <a:srgbClr val="242222"/>
                </a:solidFill>
                <a:latin typeface="Lato"/>
              </a:rPr>
              <a:t>Textos en zona gris (0,25 &lt; P &lt; 0,75) o diagnosticados en Estilo III (Propaganda Sobria).</a:t>
            </a:r>
          </a:p>
          <a:p>
            <a:pPr>
              <a:spcAft>
                <a:spcPts val="600"/>
              </a:spcAft>
            </a:pPr>
            <a:r>
              <a:rPr sz="880" b="1">
                <a:solidFill>
                  <a:srgbClr val="242222"/>
                </a:solidFill>
                <a:latin typeface="Lato"/>
              </a:rPr>
              <a:t>▪ Cotejo Factual Externo: </a:t>
            </a:r>
            <a:r>
              <a:rPr sz="880">
                <a:solidFill>
                  <a:srgbClr val="242222"/>
                </a:solidFill>
                <a:latin typeface="Lato"/>
              </a:rPr>
              <a:t>Consulta Grafos de Conocimiento y agencias de fact-checking para romper el techo de cristal.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-685800"/>
            <a:ext cx="3456432" cy="2093976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4" y="2935224"/>
            <a:ext cx="3236976" cy="2011680"/>
          </a:xfrm>
          <a:prstGeom prst="rect">
            <a:avLst/>
          </a:prstGeom>
        </p:spPr>
      </p:pic>
      <p:pic>
        <p:nvPicPr>
          <p:cNvPr id="4" name="Picture 3" descr="logo-externado-matematic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02920"/>
            <a:ext cx="1590537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143000"/>
            <a:ext cx="5303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42222"/>
                </a:solidFill>
                <a:latin typeface="Merriweather"/>
              </a:defRPr>
            </a:pPr>
            <a:r>
              <a:t>¡Muchas gracias!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057400"/>
            <a:ext cx="9144000" cy="16459"/>
          </a:xfrm>
          <a:prstGeom prst="rect">
            <a:avLst/>
          </a:prstGeom>
          <a:solidFill>
            <a:srgbClr val="24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240280"/>
            <a:ext cx="51206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2222"/>
                </a:solidFill>
                <a:latin typeface="Merriweather"/>
              </a:defRPr>
            </a:pPr>
            <a:r>
              <a:t>Sustentación de Trabajo de Grado — Preguntas y Discusión</a:t>
            </a:r>
          </a:p>
          <a:p>
            <a:pPr>
              <a:spcAft>
                <a:spcPts val="600"/>
              </a:spcAft>
            </a:pPr>
            <a:r>
              <a:rPr sz="919" b="1">
                <a:solidFill>
                  <a:srgbClr val="242222"/>
                </a:solidFill>
                <a:latin typeface="Lato"/>
              </a:rPr>
              <a:t>▪ Autores: </a:t>
            </a:r>
            <a:r>
              <a:rPr sz="919">
                <a:solidFill>
                  <a:srgbClr val="242222"/>
                </a:solidFill>
                <a:latin typeface="Lato"/>
              </a:rPr>
              <a:t>Natali Alba Tobías &amp; Daniel Santiago Camacho Gutiérrez</a:t>
            </a:r>
          </a:p>
          <a:p>
            <a:pPr>
              <a:spcAft>
                <a:spcPts val="600"/>
              </a:spcAft>
            </a:pPr>
            <a:r>
              <a:rPr sz="919" b="1">
                <a:solidFill>
                  <a:srgbClr val="242222"/>
                </a:solidFill>
                <a:latin typeface="Lato"/>
              </a:rPr>
              <a:t>▪ Directores: </a:t>
            </a:r>
            <a:r>
              <a:rPr sz="919">
                <a:solidFill>
                  <a:srgbClr val="242222"/>
                </a:solidFill>
                <a:latin typeface="Lato"/>
              </a:rPr>
              <a:t>Germán Combariza, Ph.D. &amp; Alber Montenegro, Ph.D.</a:t>
            </a:r>
          </a:p>
          <a:p>
            <a:pPr>
              <a:spcAft>
                <a:spcPts val="600"/>
              </a:spcAft>
            </a:pPr>
            <a:r>
              <a:rPr sz="919" b="1">
                <a:solidFill>
                  <a:srgbClr val="242222"/>
                </a:solidFill>
                <a:latin typeface="Lato"/>
              </a:rPr>
              <a:t>▪ Repositorio y Dashboard: </a:t>
            </a:r>
            <a:r>
              <a:rPr sz="919">
                <a:solidFill>
                  <a:srgbClr val="242222"/>
                </a:solidFill>
                <a:latin typeface="Lato"/>
              </a:rPr>
              <a:t>Marco MexGen, Índice IML (36 variables) y Modelo Ensamble 5D (42 variables) — Universidad Externado de Colombia (2026).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700's: Freedom of the Press by Slidesgo">
  <a:themeElements>
    <a:clrScheme name="Simple Light">
      <a:dk1>
        <a:srgbClr val="242222"/>
      </a:dk1>
      <a:lt1>
        <a:srgbClr val="FFFFFF"/>
      </a:lt1>
      <a:dk2>
        <a:srgbClr val="666666"/>
      </a:dk2>
      <a:lt2>
        <a:srgbClr val="B7B7B7"/>
      </a:lt2>
      <a:accent1>
        <a:srgbClr val="E8E6E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4222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